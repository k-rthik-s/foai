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Cormorant Garamond Bold" charset="1" panose="00000800000000000000"/>
      <p:regular r:id="rId17"/>
    </p:embeddedFont>
    <p:embeddedFont>
      <p:font typeface="Inter" charset="1" panose="020B0502030000000004"/>
      <p:regular r:id="rId18"/>
    </p:embeddedFont>
    <p:embeddedFont>
      <p:font typeface="Inter Bold" charset="1" panose="020B08020300000000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media/image1.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media/image1.jpeg" Type="http://schemas.openxmlformats.org/officeDocument/2006/relationships/image"/><Relationship Id="rId3" Target="../media/image12.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media/image1.jpeg" Type="http://schemas.openxmlformats.org/officeDocument/2006/relationships/image"/><Relationship Id="rId3" Target="../media/image13.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media/image1.jpeg" Type="http://schemas.openxmlformats.org/officeDocument/2006/relationships/image"/><Relationship Id="rId3" Target="../media/image16.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18.png" Type="http://schemas.openxmlformats.org/officeDocument/2006/relationships/image"/><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13" Target="../media/image25.png" Type="http://schemas.openxmlformats.org/officeDocument/2006/relationships/image"/><Relationship Id="rId14" Target="../media/image26.svg" Type="http://schemas.openxmlformats.org/officeDocument/2006/relationships/image"/><Relationship Id="rId15" Target="../media/image7.png" Type="http://schemas.openxmlformats.org/officeDocument/2006/relationships/image"/><Relationship Id="rId16" Target="../media/image8.svg" Type="http://schemas.openxmlformats.org/officeDocument/2006/relationships/image"/><Relationship Id="rId17" Target="../media/image27.png" Type="http://schemas.openxmlformats.org/officeDocument/2006/relationships/image"/><Relationship Id="rId18" Target="../media/image10.png" Type="http://schemas.openxmlformats.org/officeDocument/2006/relationships/image"/><Relationship Id="rId19" Target="../media/image11.svg" Type="http://schemas.openxmlformats.org/officeDocument/2006/relationships/image"/><Relationship Id="rId2" Target="../media/image1.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5849371" y="9576839"/>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1100113" y="1947834"/>
            <a:ext cx="5446898" cy="6808622"/>
          </a:xfrm>
          <a:custGeom>
            <a:avLst/>
            <a:gdLst/>
            <a:ahLst/>
            <a:cxnLst/>
            <a:rect r="r" b="b" t="t" l="l"/>
            <a:pathLst>
              <a:path h="6808622" w="5446898">
                <a:moveTo>
                  <a:pt x="0" y="0"/>
                </a:moveTo>
                <a:lnTo>
                  <a:pt x="5446898" y="0"/>
                </a:lnTo>
                <a:lnTo>
                  <a:pt x="5446898" y="6808622"/>
                </a:lnTo>
                <a:lnTo>
                  <a:pt x="0" y="6808622"/>
                </a:lnTo>
                <a:lnTo>
                  <a:pt x="0" y="0"/>
                </a:lnTo>
                <a:close/>
              </a:path>
            </a:pathLst>
          </a:custGeom>
          <a:blipFill>
            <a:blip r:embed="rId7"/>
            <a:stretch>
              <a:fillRect l="-41827" t="0" r="-41827" b="0"/>
            </a:stretch>
          </a:blipFill>
        </p:spPr>
      </p:sp>
      <p:sp>
        <p:nvSpPr>
          <p:cNvPr name="Freeform 6" id="6"/>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378430" y="3026798"/>
            <a:ext cx="8270646" cy="2876169"/>
          </a:xfrm>
          <a:prstGeom prst="rect">
            <a:avLst/>
          </a:prstGeom>
        </p:spPr>
        <p:txBody>
          <a:bodyPr anchor="t" rtlCol="false" tIns="0" lIns="0" bIns="0" rIns="0">
            <a:spAutoFit/>
          </a:bodyPr>
          <a:lstStyle/>
          <a:p>
            <a:pPr algn="l">
              <a:lnSpc>
                <a:spcPts val="7488"/>
              </a:lnSpc>
            </a:pPr>
            <a:r>
              <a:rPr lang="en-US" sz="7800" b="true">
                <a:solidFill>
                  <a:srgbClr val="000000"/>
                </a:solidFill>
                <a:latin typeface="Cormorant Garamond Bold"/>
                <a:ea typeface="Cormorant Garamond Bold"/>
                <a:cs typeface="Cormorant Garamond Bold"/>
                <a:sym typeface="Cormorant Garamond Bold"/>
              </a:rPr>
              <a:t>AI-Based Exam Duty and Laboratory Allocation System</a:t>
            </a:r>
          </a:p>
        </p:txBody>
      </p:sp>
      <p:sp>
        <p:nvSpPr>
          <p:cNvPr name="TextBox 8" id="8"/>
          <p:cNvSpPr txBox="true"/>
          <p:nvPr/>
        </p:nvSpPr>
        <p:spPr>
          <a:xfrm rot="0">
            <a:off x="1409745" y="6145543"/>
            <a:ext cx="7809980" cy="390590"/>
          </a:xfrm>
          <a:prstGeom prst="rect">
            <a:avLst/>
          </a:prstGeom>
        </p:spPr>
        <p:txBody>
          <a:bodyPr anchor="t" rtlCol="false" tIns="0" lIns="0" bIns="0" rIns="0">
            <a:spAutoFit/>
          </a:bodyPr>
          <a:lstStyle/>
          <a:p>
            <a:pPr algn="l">
              <a:lnSpc>
                <a:spcPts val="3203"/>
              </a:lnSpc>
            </a:pPr>
            <a:r>
              <a:rPr lang="en-US" sz="2288">
                <a:solidFill>
                  <a:srgbClr val="000000"/>
                </a:solidFill>
                <a:latin typeface="Inter"/>
                <a:ea typeface="Inter"/>
                <a:cs typeface="Inter"/>
                <a:sym typeface="Inter"/>
              </a:rPr>
              <a:t>Using c</a:t>
            </a:r>
            <a:r>
              <a:rPr lang="en-US" sz="2288">
                <a:solidFill>
                  <a:srgbClr val="000000"/>
                </a:solidFill>
                <a:latin typeface="Inter"/>
                <a:ea typeface="Inter"/>
                <a:cs typeface="Inter"/>
                <a:sym typeface="Inter"/>
              </a:rPr>
              <a:t>onstraint satisfaction and search algorithms</a:t>
            </a:r>
          </a:p>
        </p:txBody>
      </p:sp>
      <p:sp>
        <p:nvSpPr>
          <p:cNvPr name="TextBox 9" id="9"/>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sp>
        <p:nvSpPr>
          <p:cNvPr name="TextBox 10" id="10"/>
          <p:cNvSpPr txBox="true"/>
          <p:nvPr/>
        </p:nvSpPr>
        <p:spPr>
          <a:xfrm rot="0">
            <a:off x="1409745" y="8377333"/>
            <a:ext cx="2332458" cy="336135"/>
          </a:xfrm>
          <a:prstGeom prst="rect">
            <a:avLst/>
          </a:prstGeom>
        </p:spPr>
        <p:txBody>
          <a:bodyPr anchor="t" rtlCol="false" tIns="0" lIns="0" bIns="0" rIns="0">
            <a:spAutoFit/>
          </a:bodyPr>
          <a:lstStyle/>
          <a:p>
            <a:pPr algn="l">
              <a:lnSpc>
                <a:spcPts val="2706"/>
              </a:lnSpc>
            </a:pPr>
            <a:r>
              <a:rPr lang="en-US" sz="1933">
                <a:solidFill>
                  <a:srgbClr val="000000"/>
                </a:solidFill>
                <a:latin typeface="Inter"/>
                <a:ea typeface="Inter"/>
                <a:cs typeface="Inter"/>
                <a:sym typeface="Inter"/>
              </a:rPr>
              <a:t>Presented by</a:t>
            </a:r>
          </a:p>
        </p:txBody>
      </p:sp>
      <p:sp>
        <p:nvSpPr>
          <p:cNvPr name="TextBox 11" id="11"/>
          <p:cNvSpPr txBox="true"/>
          <p:nvPr/>
        </p:nvSpPr>
        <p:spPr>
          <a:xfrm rot="0">
            <a:off x="3081655" y="8374244"/>
            <a:ext cx="2432098" cy="673677"/>
          </a:xfrm>
          <a:prstGeom prst="rect">
            <a:avLst/>
          </a:prstGeom>
        </p:spPr>
        <p:txBody>
          <a:bodyPr anchor="t" rtlCol="false" tIns="0" lIns="0" bIns="0" rIns="0">
            <a:spAutoFit/>
          </a:bodyPr>
          <a:lstStyle/>
          <a:p>
            <a:pPr algn="l">
              <a:lnSpc>
                <a:spcPts val="2706"/>
              </a:lnSpc>
            </a:pPr>
            <a:r>
              <a:rPr lang="en-US" sz="1933" b="true">
                <a:solidFill>
                  <a:srgbClr val="000000"/>
                </a:solidFill>
                <a:latin typeface="Inter Bold"/>
                <a:ea typeface="Inter Bold"/>
                <a:cs typeface="Inter Bold"/>
                <a:sym typeface="Inter Bold"/>
              </a:rPr>
              <a:t>Karthikeyan A</a:t>
            </a:r>
          </a:p>
          <a:p>
            <a:pPr algn="l">
              <a:lnSpc>
                <a:spcPts val="2706"/>
              </a:lnSpc>
            </a:pPr>
            <a:r>
              <a:rPr lang="en-US" sz="1933" b="true">
                <a:solidFill>
                  <a:srgbClr val="000000"/>
                </a:solidFill>
                <a:latin typeface="Inter Bold"/>
                <a:ea typeface="Inter Bold"/>
                <a:cs typeface="Inter Bold"/>
                <a:sym typeface="Inter Bold"/>
              </a:rPr>
              <a:t>Kaarthika 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a:off x="1647357" y="4367025"/>
            <a:ext cx="2126908" cy="0"/>
          </a:xfrm>
          <a:prstGeom prst="line">
            <a:avLst/>
          </a:prstGeom>
          <a:ln cap="flat" w="38100">
            <a:solidFill>
              <a:srgbClr val="90816A"/>
            </a:solidFill>
            <a:prstDash val="solid"/>
            <a:headEnd type="none" len="sm" w="sm"/>
            <a:tailEnd type="none" len="sm" w="sm"/>
          </a:ln>
        </p:spPr>
      </p:sp>
      <p:grpSp>
        <p:nvGrpSpPr>
          <p:cNvPr name="Group 4" id="4"/>
          <p:cNvGrpSpPr/>
          <p:nvPr/>
        </p:nvGrpSpPr>
        <p:grpSpPr>
          <a:xfrm rot="0">
            <a:off x="12754568" y="1693113"/>
            <a:ext cx="4186983" cy="7404589"/>
            <a:chOff x="0" y="0"/>
            <a:chExt cx="648673" cy="1147165"/>
          </a:xfrm>
        </p:grpSpPr>
        <p:sp>
          <p:nvSpPr>
            <p:cNvPr name="Freeform 5" id="5"/>
            <p:cNvSpPr/>
            <p:nvPr/>
          </p:nvSpPr>
          <p:spPr>
            <a:xfrm flipH="false" flipV="false" rot="0">
              <a:off x="0" y="0"/>
              <a:ext cx="648673" cy="1147165"/>
            </a:xfrm>
            <a:custGeom>
              <a:avLst/>
              <a:gdLst/>
              <a:ahLst/>
              <a:cxnLst/>
              <a:rect r="r" b="b" t="t" l="l"/>
              <a:pathLst>
                <a:path h="1147165" w="648673">
                  <a:moveTo>
                    <a:pt x="42528" y="0"/>
                  </a:moveTo>
                  <a:lnTo>
                    <a:pt x="606145" y="0"/>
                  </a:lnTo>
                  <a:cubicBezTo>
                    <a:pt x="617424" y="0"/>
                    <a:pt x="628242" y="4481"/>
                    <a:pt x="636217" y="12456"/>
                  </a:cubicBezTo>
                  <a:cubicBezTo>
                    <a:pt x="644193" y="20432"/>
                    <a:pt x="648673" y="31249"/>
                    <a:pt x="648673" y="42528"/>
                  </a:cubicBezTo>
                  <a:lnTo>
                    <a:pt x="648673" y="1104637"/>
                  </a:lnTo>
                  <a:cubicBezTo>
                    <a:pt x="648673" y="1115916"/>
                    <a:pt x="644193" y="1126733"/>
                    <a:pt x="636217" y="1134708"/>
                  </a:cubicBezTo>
                  <a:cubicBezTo>
                    <a:pt x="628242" y="1142684"/>
                    <a:pt x="617424" y="1147165"/>
                    <a:pt x="606145" y="1147165"/>
                  </a:cubicBezTo>
                  <a:lnTo>
                    <a:pt x="42528" y="1147165"/>
                  </a:lnTo>
                  <a:cubicBezTo>
                    <a:pt x="31249" y="1147165"/>
                    <a:pt x="20432" y="1142684"/>
                    <a:pt x="12456" y="1134708"/>
                  </a:cubicBezTo>
                  <a:cubicBezTo>
                    <a:pt x="4481" y="1126733"/>
                    <a:pt x="0" y="1115916"/>
                    <a:pt x="0" y="1104637"/>
                  </a:cubicBezTo>
                  <a:lnTo>
                    <a:pt x="0" y="42528"/>
                  </a:lnTo>
                  <a:cubicBezTo>
                    <a:pt x="0" y="31249"/>
                    <a:pt x="4481" y="20432"/>
                    <a:pt x="12456" y="12456"/>
                  </a:cubicBezTo>
                  <a:cubicBezTo>
                    <a:pt x="20432" y="4481"/>
                    <a:pt x="31249" y="0"/>
                    <a:pt x="42528" y="0"/>
                  </a:cubicBezTo>
                  <a:close/>
                </a:path>
              </a:pathLst>
            </a:custGeom>
            <a:blipFill>
              <a:blip r:embed="rId3"/>
              <a:stretch>
                <a:fillRect l="-82687" t="0" r="-82687" b="0"/>
              </a:stretch>
            </a:blipFill>
          </p:spPr>
        </p:sp>
      </p:grpSp>
      <p:sp>
        <p:nvSpPr>
          <p:cNvPr name="Freeform 6" id="6"/>
          <p:cNvSpPr/>
          <p:nvPr/>
        </p:nvSpPr>
        <p:spPr>
          <a:xfrm flipH="false" flipV="false" rot="0">
            <a:off x="8038292" y="1655425"/>
            <a:ext cx="381257" cy="381257"/>
          </a:xfrm>
          <a:custGeom>
            <a:avLst/>
            <a:gdLst/>
            <a:ahLst/>
            <a:cxnLst/>
            <a:rect r="r" b="b" t="t" l="l"/>
            <a:pathLst>
              <a:path h="381257" w="381257">
                <a:moveTo>
                  <a:pt x="0" y="0"/>
                </a:moveTo>
                <a:lnTo>
                  <a:pt x="381257" y="0"/>
                </a:lnTo>
                <a:lnTo>
                  <a:pt x="381257" y="381257"/>
                </a:lnTo>
                <a:lnTo>
                  <a:pt x="0" y="381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038292" y="4348181"/>
            <a:ext cx="381257" cy="381257"/>
          </a:xfrm>
          <a:custGeom>
            <a:avLst/>
            <a:gdLst/>
            <a:ahLst/>
            <a:cxnLst/>
            <a:rect r="r" b="b" t="t" l="l"/>
            <a:pathLst>
              <a:path h="381257" w="381257">
                <a:moveTo>
                  <a:pt x="0" y="0"/>
                </a:moveTo>
                <a:lnTo>
                  <a:pt x="381257" y="0"/>
                </a:lnTo>
                <a:lnTo>
                  <a:pt x="381257" y="381256"/>
                </a:lnTo>
                <a:lnTo>
                  <a:pt x="0" y="381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038292" y="7050652"/>
            <a:ext cx="381257" cy="381257"/>
          </a:xfrm>
          <a:custGeom>
            <a:avLst/>
            <a:gdLst/>
            <a:ahLst/>
            <a:cxnLst/>
            <a:rect r="r" b="b" t="t" l="l"/>
            <a:pathLst>
              <a:path h="381257" w="381257">
                <a:moveTo>
                  <a:pt x="0" y="0"/>
                </a:moveTo>
                <a:lnTo>
                  <a:pt x="381257" y="0"/>
                </a:lnTo>
                <a:lnTo>
                  <a:pt x="381257" y="381257"/>
                </a:lnTo>
                <a:lnTo>
                  <a:pt x="0" y="381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589335" y="1906680"/>
            <a:ext cx="4634432" cy="2308225"/>
          </a:xfrm>
          <a:prstGeom prst="rect">
            <a:avLst/>
          </a:prstGeom>
        </p:spPr>
        <p:txBody>
          <a:bodyPr anchor="t" rtlCol="false" tIns="0" lIns="0" bIns="0" rIns="0">
            <a:spAutoFit/>
          </a:bodyPr>
          <a:lstStyle/>
          <a:p>
            <a:pPr algn="l">
              <a:lnSpc>
                <a:spcPts val="6050"/>
              </a:lnSpc>
            </a:pPr>
            <a:r>
              <a:rPr lang="en-US" sz="5500" b="true">
                <a:solidFill>
                  <a:srgbClr val="000000"/>
                </a:solidFill>
                <a:latin typeface="Cormorant Garamond Bold"/>
                <a:ea typeface="Cormorant Garamond Bold"/>
                <a:cs typeface="Cormorant Garamond Bold"/>
                <a:sym typeface="Cormorant Garamond Bold"/>
              </a:rPr>
              <a:t>Allocate once, repair on demand</a:t>
            </a:r>
          </a:p>
        </p:txBody>
      </p:sp>
      <p:sp>
        <p:nvSpPr>
          <p:cNvPr name="Freeform 10" id="10"/>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5591769" y="1655425"/>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1589335" y="6642988"/>
            <a:ext cx="5047809" cy="2506979"/>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We model the task as a Constraint Satisfaction Problem and generate the allocation with AC-3 propagation and heuristic backtracking search. Incidents are repaired with min-conflicts local search under a change penalty, so only the affected slots move. Infeasible cases are explained in terms of the blocking constraint.</a:t>
            </a:r>
          </a:p>
        </p:txBody>
      </p:sp>
      <p:sp>
        <p:nvSpPr>
          <p:cNvPr name="TextBox 14" id="14"/>
          <p:cNvSpPr txBox="true"/>
          <p:nvPr/>
        </p:nvSpPr>
        <p:spPr>
          <a:xfrm rot="0">
            <a:off x="1589335" y="4889626"/>
            <a:ext cx="5276552" cy="156400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Exam cells assign venues and invigilators for hundreds of sessions by hand, and every lab failure, postponement or faculty leave forces a manual redo that disturbs assignments unrelated to the change.</a:t>
            </a:r>
          </a:p>
        </p:txBody>
      </p:sp>
      <p:sp>
        <p:nvSpPr>
          <p:cNvPr name="TextBox 15" id="15"/>
          <p:cNvSpPr txBox="true"/>
          <p:nvPr/>
        </p:nvSpPr>
        <p:spPr>
          <a:xfrm rot="0">
            <a:off x="8695212" y="1693319"/>
            <a:ext cx="3115320" cy="95313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CSP + backtracking (MRV, LCV, forward checking)</a:t>
            </a:r>
          </a:p>
        </p:txBody>
      </p:sp>
      <p:sp>
        <p:nvSpPr>
          <p:cNvPr name="TextBox 16" id="16"/>
          <p:cNvSpPr txBox="true"/>
          <p:nvPr/>
        </p:nvSpPr>
        <p:spPr>
          <a:xfrm rot="0">
            <a:off x="8695212" y="4386075"/>
            <a:ext cx="3115320" cy="95313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Min-conflicts repair with minimal disruption</a:t>
            </a:r>
          </a:p>
        </p:txBody>
      </p:sp>
      <p:sp>
        <p:nvSpPr>
          <p:cNvPr name="TextBox 17" id="17"/>
          <p:cNvSpPr txBox="true"/>
          <p:nvPr/>
        </p:nvSpPr>
        <p:spPr>
          <a:xfrm rot="0">
            <a:off x="8695212" y="7069702"/>
            <a:ext cx="2038506" cy="95313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Validator and infeasibility explanation</a:t>
            </a:r>
          </a:p>
        </p:txBody>
      </p:sp>
      <p:sp>
        <p:nvSpPr>
          <p:cNvPr name="TextBox 18" id="18"/>
          <p:cNvSpPr txBox="true"/>
          <p:nvPr/>
        </p:nvSpPr>
        <p:spPr>
          <a:xfrm rot="0">
            <a:off x="15879739" y="721995"/>
            <a:ext cx="2171801" cy="306705"/>
          </a:xfrm>
          <a:prstGeom prst="rect">
            <a:avLst/>
          </a:prstGeom>
        </p:spPr>
        <p:txBody>
          <a:bodyPr anchor="t" rtlCol="false" tIns="0" lIns="0" bIns="0" rIns="0">
            <a:spAutoFit/>
          </a:bodyPr>
          <a:lstStyle/>
          <a:p>
            <a:pPr algn="l">
              <a:lnSpc>
                <a:spcPts val="2520"/>
              </a:lnSpc>
            </a:pPr>
            <a:r>
              <a:rPr lang="en-US" sz="1800">
                <a:solidFill>
                  <a:srgbClr val="363336"/>
                </a:solidFill>
                <a:latin typeface="Inter"/>
                <a:ea typeface="Inter"/>
                <a:cs typeface="Inter"/>
                <a:sym typeface="Inter"/>
              </a:rPr>
              <a:t>Abstract </a:t>
            </a:r>
          </a:p>
        </p:txBody>
      </p:sp>
      <p:sp>
        <p:nvSpPr>
          <p:cNvPr name="TextBox 19" id="19"/>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grpSp>
        <p:nvGrpSpPr>
          <p:cNvPr name="Group 20" id="20"/>
          <p:cNvGrpSpPr/>
          <p:nvPr/>
        </p:nvGrpSpPr>
        <p:grpSpPr>
          <a:xfrm rot="0">
            <a:off x="7657533" y="1128805"/>
            <a:ext cx="4463010" cy="2097122"/>
            <a:chOff x="0" y="0"/>
            <a:chExt cx="1175443" cy="552328"/>
          </a:xfrm>
        </p:grpSpPr>
        <p:sp>
          <p:nvSpPr>
            <p:cNvPr name="Freeform 21" id="21"/>
            <p:cNvSpPr/>
            <p:nvPr/>
          </p:nvSpPr>
          <p:spPr>
            <a:xfrm flipH="false" flipV="false" rot="0">
              <a:off x="0" y="0"/>
              <a:ext cx="1175443" cy="552328"/>
            </a:xfrm>
            <a:custGeom>
              <a:avLst/>
              <a:gdLst/>
              <a:ahLst/>
              <a:cxnLst/>
              <a:rect r="r" b="b" t="t" l="l"/>
              <a:pathLst>
                <a:path h="552328" w="1175443">
                  <a:moveTo>
                    <a:pt x="64183" y="0"/>
                  </a:moveTo>
                  <a:lnTo>
                    <a:pt x="1111259" y="0"/>
                  </a:lnTo>
                  <a:cubicBezTo>
                    <a:pt x="1128282" y="0"/>
                    <a:pt x="1144607" y="6762"/>
                    <a:pt x="1156644" y="18799"/>
                  </a:cubicBezTo>
                  <a:cubicBezTo>
                    <a:pt x="1168681" y="30836"/>
                    <a:pt x="1175443" y="47161"/>
                    <a:pt x="1175443" y="64183"/>
                  </a:cubicBezTo>
                  <a:lnTo>
                    <a:pt x="1175443" y="488145"/>
                  </a:lnTo>
                  <a:cubicBezTo>
                    <a:pt x="1175443" y="505167"/>
                    <a:pt x="1168681" y="521493"/>
                    <a:pt x="1156644" y="533529"/>
                  </a:cubicBezTo>
                  <a:cubicBezTo>
                    <a:pt x="1144607" y="545566"/>
                    <a:pt x="1128282" y="552328"/>
                    <a:pt x="1111259" y="552328"/>
                  </a:cubicBezTo>
                  <a:lnTo>
                    <a:pt x="64183" y="552328"/>
                  </a:lnTo>
                  <a:cubicBezTo>
                    <a:pt x="47161" y="552328"/>
                    <a:pt x="30836" y="545566"/>
                    <a:pt x="18799" y="533529"/>
                  </a:cubicBezTo>
                  <a:cubicBezTo>
                    <a:pt x="6762" y="521493"/>
                    <a:pt x="0" y="505167"/>
                    <a:pt x="0" y="488145"/>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22" id="22"/>
            <p:cNvSpPr txBox="true"/>
            <p:nvPr/>
          </p:nvSpPr>
          <p:spPr>
            <a:xfrm>
              <a:off x="0" y="19050"/>
              <a:ext cx="1175443" cy="533278"/>
            </a:xfrm>
            <a:prstGeom prst="rect">
              <a:avLst/>
            </a:prstGeom>
          </p:spPr>
          <p:txBody>
            <a:bodyPr anchor="ctr" rtlCol="false" tIns="50800" lIns="50800" bIns="50800" rIns="50800"/>
            <a:lstStyle/>
            <a:p>
              <a:pPr algn="ctr">
                <a:lnSpc>
                  <a:spcPts val="2530"/>
                </a:lnSpc>
              </a:pPr>
            </a:p>
          </p:txBody>
        </p:sp>
      </p:grpSp>
      <p:grpSp>
        <p:nvGrpSpPr>
          <p:cNvPr name="Group 23" id="23"/>
          <p:cNvGrpSpPr/>
          <p:nvPr/>
        </p:nvGrpSpPr>
        <p:grpSpPr>
          <a:xfrm rot="0">
            <a:off x="7657533" y="3680876"/>
            <a:ext cx="4463010" cy="2097122"/>
            <a:chOff x="0" y="0"/>
            <a:chExt cx="1175443" cy="552328"/>
          </a:xfrm>
        </p:grpSpPr>
        <p:sp>
          <p:nvSpPr>
            <p:cNvPr name="Freeform 24" id="24"/>
            <p:cNvSpPr/>
            <p:nvPr/>
          </p:nvSpPr>
          <p:spPr>
            <a:xfrm flipH="false" flipV="false" rot="0">
              <a:off x="0" y="0"/>
              <a:ext cx="1175443" cy="552328"/>
            </a:xfrm>
            <a:custGeom>
              <a:avLst/>
              <a:gdLst/>
              <a:ahLst/>
              <a:cxnLst/>
              <a:rect r="r" b="b" t="t" l="l"/>
              <a:pathLst>
                <a:path h="552328" w="1175443">
                  <a:moveTo>
                    <a:pt x="64183" y="0"/>
                  </a:moveTo>
                  <a:lnTo>
                    <a:pt x="1111259" y="0"/>
                  </a:lnTo>
                  <a:cubicBezTo>
                    <a:pt x="1128282" y="0"/>
                    <a:pt x="1144607" y="6762"/>
                    <a:pt x="1156644" y="18799"/>
                  </a:cubicBezTo>
                  <a:cubicBezTo>
                    <a:pt x="1168681" y="30836"/>
                    <a:pt x="1175443" y="47161"/>
                    <a:pt x="1175443" y="64183"/>
                  </a:cubicBezTo>
                  <a:lnTo>
                    <a:pt x="1175443" y="488145"/>
                  </a:lnTo>
                  <a:cubicBezTo>
                    <a:pt x="1175443" y="505167"/>
                    <a:pt x="1168681" y="521493"/>
                    <a:pt x="1156644" y="533529"/>
                  </a:cubicBezTo>
                  <a:cubicBezTo>
                    <a:pt x="1144607" y="545566"/>
                    <a:pt x="1128282" y="552328"/>
                    <a:pt x="1111259" y="552328"/>
                  </a:cubicBezTo>
                  <a:lnTo>
                    <a:pt x="64183" y="552328"/>
                  </a:lnTo>
                  <a:cubicBezTo>
                    <a:pt x="47161" y="552328"/>
                    <a:pt x="30836" y="545566"/>
                    <a:pt x="18799" y="533529"/>
                  </a:cubicBezTo>
                  <a:cubicBezTo>
                    <a:pt x="6762" y="521493"/>
                    <a:pt x="0" y="505167"/>
                    <a:pt x="0" y="488145"/>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25" id="25"/>
            <p:cNvSpPr txBox="true"/>
            <p:nvPr/>
          </p:nvSpPr>
          <p:spPr>
            <a:xfrm>
              <a:off x="0" y="19050"/>
              <a:ext cx="1175443" cy="533278"/>
            </a:xfrm>
            <a:prstGeom prst="rect">
              <a:avLst/>
            </a:prstGeom>
          </p:spPr>
          <p:txBody>
            <a:bodyPr anchor="ctr" rtlCol="false" tIns="50800" lIns="50800" bIns="50800" rIns="50800"/>
            <a:lstStyle/>
            <a:p>
              <a:pPr algn="ctr">
                <a:lnSpc>
                  <a:spcPts val="2530"/>
                </a:lnSpc>
              </a:pPr>
            </a:p>
          </p:txBody>
        </p:sp>
      </p:grpSp>
      <p:grpSp>
        <p:nvGrpSpPr>
          <p:cNvPr name="Group 26" id="26"/>
          <p:cNvGrpSpPr/>
          <p:nvPr/>
        </p:nvGrpSpPr>
        <p:grpSpPr>
          <a:xfrm rot="0">
            <a:off x="7657533" y="6681088"/>
            <a:ext cx="4463010" cy="2097122"/>
            <a:chOff x="0" y="0"/>
            <a:chExt cx="1175443" cy="552328"/>
          </a:xfrm>
        </p:grpSpPr>
        <p:sp>
          <p:nvSpPr>
            <p:cNvPr name="Freeform 27" id="27"/>
            <p:cNvSpPr/>
            <p:nvPr/>
          </p:nvSpPr>
          <p:spPr>
            <a:xfrm flipH="false" flipV="false" rot="0">
              <a:off x="0" y="0"/>
              <a:ext cx="1175443" cy="552328"/>
            </a:xfrm>
            <a:custGeom>
              <a:avLst/>
              <a:gdLst/>
              <a:ahLst/>
              <a:cxnLst/>
              <a:rect r="r" b="b" t="t" l="l"/>
              <a:pathLst>
                <a:path h="552328" w="1175443">
                  <a:moveTo>
                    <a:pt x="64183" y="0"/>
                  </a:moveTo>
                  <a:lnTo>
                    <a:pt x="1111259" y="0"/>
                  </a:lnTo>
                  <a:cubicBezTo>
                    <a:pt x="1128282" y="0"/>
                    <a:pt x="1144607" y="6762"/>
                    <a:pt x="1156644" y="18799"/>
                  </a:cubicBezTo>
                  <a:cubicBezTo>
                    <a:pt x="1168681" y="30836"/>
                    <a:pt x="1175443" y="47161"/>
                    <a:pt x="1175443" y="64183"/>
                  </a:cubicBezTo>
                  <a:lnTo>
                    <a:pt x="1175443" y="488145"/>
                  </a:lnTo>
                  <a:cubicBezTo>
                    <a:pt x="1175443" y="505167"/>
                    <a:pt x="1168681" y="521493"/>
                    <a:pt x="1156644" y="533529"/>
                  </a:cubicBezTo>
                  <a:cubicBezTo>
                    <a:pt x="1144607" y="545566"/>
                    <a:pt x="1128282" y="552328"/>
                    <a:pt x="1111259" y="552328"/>
                  </a:cubicBezTo>
                  <a:lnTo>
                    <a:pt x="64183" y="552328"/>
                  </a:lnTo>
                  <a:cubicBezTo>
                    <a:pt x="47161" y="552328"/>
                    <a:pt x="30836" y="545566"/>
                    <a:pt x="18799" y="533529"/>
                  </a:cubicBezTo>
                  <a:cubicBezTo>
                    <a:pt x="6762" y="521493"/>
                    <a:pt x="0" y="505167"/>
                    <a:pt x="0" y="488145"/>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28" id="28"/>
            <p:cNvSpPr txBox="true"/>
            <p:nvPr/>
          </p:nvSpPr>
          <p:spPr>
            <a:xfrm>
              <a:off x="0" y="19050"/>
              <a:ext cx="1175443" cy="533278"/>
            </a:xfrm>
            <a:prstGeom prst="rect">
              <a:avLst/>
            </a:prstGeom>
          </p:spPr>
          <p:txBody>
            <a:bodyPr anchor="ctr" rtlCol="false" tIns="50800" lIns="50800" bIns="50800" rIns="50800"/>
            <a:lstStyle/>
            <a:p>
              <a:pPr algn="ctr">
                <a:lnSpc>
                  <a:spcPts val="253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a:off x="10611468" y="4225803"/>
            <a:ext cx="2126908" cy="0"/>
          </a:xfrm>
          <a:prstGeom prst="line">
            <a:avLst/>
          </a:prstGeom>
          <a:ln cap="flat" w="38100">
            <a:solidFill>
              <a:srgbClr val="90816A"/>
            </a:solidFill>
            <a:prstDash val="solid"/>
            <a:headEnd type="none" len="sm" w="sm"/>
            <a:tailEnd type="none" len="sm" w="sm"/>
          </a:ln>
        </p:spPr>
      </p:sp>
      <p:grpSp>
        <p:nvGrpSpPr>
          <p:cNvPr name="Group 4" id="4"/>
          <p:cNvGrpSpPr/>
          <p:nvPr/>
        </p:nvGrpSpPr>
        <p:grpSpPr>
          <a:xfrm rot="0">
            <a:off x="1618036" y="5876063"/>
            <a:ext cx="7808407" cy="3382237"/>
            <a:chOff x="0" y="0"/>
            <a:chExt cx="1209727" cy="523997"/>
          </a:xfrm>
        </p:grpSpPr>
        <p:sp>
          <p:nvSpPr>
            <p:cNvPr name="Freeform 5" id="5"/>
            <p:cNvSpPr/>
            <p:nvPr/>
          </p:nvSpPr>
          <p:spPr>
            <a:xfrm flipH="false" flipV="false" rot="0">
              <a:off x="0" y="0"/>
              <a:ext cx="1209727" cy="523997"/>
            </a:xfrm>
            <a:custGeom>
              <a:avLst/>
              <a:gdLst/>
              <a:ahLst/>
              <a:cxnLst/>
              <a:rect r="r" b="b" t="t" l="l"/>
              <a:pathLst>
                <a:path h="523997" w="1209727">
                  <a:moveTo>
                    <a:pt x="22804" y="0"/>
                  </a:moveTo>
                  <a:lnTo>
                    <a:pt x="1186922" y="0"/>
                  </a:lnTo>
                  <a:cubicBezTo>
                    <a:pt x="1199517" y="0"/>
                    <a:pt x="1209727" y="10210"/>
                    <a:pt x="1209727" y="22804"/>
                  </a:cubicBezTo>
                  <a:lnTo>
                    <a:pt x="1209727" y="501193"/>
                  </a:lnTo>
                  <a:cubicBezTo>
                    <a:pt x="1209727" y="513787"/>
                    <a:pt x="1199517" y="523997"/>
                    <a:pt x="1186922" y="523997"/>
                  </a:cubicBezTo>
                  <a:lnTo>
                    <a:pt x="22804" y="523997"/>
                  </a:lnTo>
                  <a:cubicBezTo>
                    <a:pt x="10210" y="523997"/>
                    <a:pt x="0" y="513787"/>
                    <a:pt x="0" y="501193"/>
                  </a:cubicBezTo>
                  <a:lnTo>
                    <a:pt x="0" y="22804"/>
                  </a:lnTo>
                  <a:cubicBezTo>
                    <a:pt x="0" y="10210"/>
                    <a:pt x="10210" y="0"/>
                    <a:pt x="22804" y="0"/>
                  </a:cubicBezTo>
                  <a:close/>
                </a:path>
              </a:pathLst>
            </a:custGeom>
            <a:blipFill>
              <a:blip r:embed="rId3"/>
              <a:stretch>
                <a:fillRect l="0" t="-26955" r="0" b="-26955"/>
              </a:stretch>
            </a:blipFill>
          </p:spPr>
        </p:sp>
      </p:grpSp>
      <p:sp>
        <p:nvSpPr>
          <p:cNvPr name="Freeform 6" id="6"/>
          <p:cNvSpPr/>
          <p:nvPr/>
        </p:nvSpPr>
        <p:spPr>
          <a:xfrm flipH="false" flipV="false" rot="0">
            <a:off x="1618036" y="2026757"/>
            <a:ext cx="381257" cy="381257"/>
          </a:xfrm>
          <a:custGeom>
            <a:avLst/>
            <a:gdLst/>
            <a:ahLst/>
            <a:cxnLst/>
            <a:rect r="r" b="b" t="t" l="l"/>
            <a:pathLst>
              <a:path h="381257" w="381257">
                <a:moveTo>
                  <a:pt x="0" y="0"/>
                </a:moveTo>
                <a:lnTo>
                  <a:pt x="381257" y="0"/>
                </a:lnTo>
                <a:lnTo>
                  <a:pt x="381257" y="381256"/>
                </a:lnTo>
                <a:lnTo>
                  <a:pt x="0" y="381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18036" y="4030432"/>
            <a:ext cx="381257" cy="381257"/>
          </a:xfrm>
          <a:custGeom>
            <a:avLst/>
            <a:gdLst/>
            <a:ahLst/>
            <a:cxnLst/>
            <a:rect r="r" b="b" t="t" l="l"/>
            <a:pathLst>
              <a:path h="381257" w="381257">
                <a:moveTo>
                  <a:pt x="0" y="0"/>
                </a:moveTo>
                <a:lnTo>
                  <a:pt x="381257" y="0"/>
                </a:lnTo>
                <a:lnTo>
                  <a:pt x="381257" y="381257"/>
                </a:lnTo>
                <a:lnTo>
                  <a:pt x="0" y="381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0800000">
            <a:off x="15358272" y="9117864"/>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618036" y="2655526"/>
            <a:ext cx="6731728" cy="93535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Venues and invigilators are assigned in spreadsheets. Clashes with lectures, over-capacity rooms and labs with too few working systems are caught late or not at all.</a:t>
            </a:r>
          </a:p>
        </p:txBody>
      </p:sp>
      <p:sp>
        <p:nvSpPr>
          <p:cNvPr name="TextBox 12" id="12"/>
          <p:cNvSpPr txBox="true"/>
          <p:nvPr/>
        </p:nvSpPr>
        <p:spPr>
          <a:xfrm rot="0">
            <a:off x="10553446" y="1765458"/>
            <a:ext cx="6608284" cy="2308225"/>
          </a:xfrm>
          <a:prstGeom prst="rect">
            <a:avLst/>
          </a:prstGeom>
        </p:spPr>
        <p:txBody>
          <a:bodyPr anchor="t" rtlCol="false" tIns="0" lIns="0" bIns="0" rIns="0">
            <a:spAutoFit/>
          </a:bodyPr>
          <a:lstStyle/>
          <a:p>
            <a:pPr algn="l">
              <a:lnSpc>
                <a:spcPts val="6049"/>
              </a:lnSpc>
            </a:pPr>
            <a:r>
              <a:rPr lang="en-US" sz="5499" b="true">
                <a:solidFill>
                  <a:srgbClr val="000000"/>
                </a:solidFill>
                <a:latin typeface="Cormorant Garamond Bold"/>
                <a:ea typeface="Cormorant Garamond Bold"/>
                <a:cs typeface="Cormorant Garamond Bold"/>
                <a:sym typeface="Cormorant Garamond Bold"/>
              </a:rPr>
              <a:t>How exam allocation is done today, and where it breaks</a:t>
            </a:r>
          </a:p>
        </p:txBody>
      </p:sp>
      <p:sp>
        <p:nvSpPr>
          <p:cNvPr name="TextBox 13" id="13"/>
          <p:cNvSpPr txBox="true"/>
          <p:nvPr/>
        </p:nvSpPr>
        <p:spPr>
          <a:xfrm rot="0">
            <a:off x="1618036" y="4640358"/>
            <a:ext cx="7117927" cy="621029"/>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One broken lab or postponed exam means re-checking the entire sheet, and faculty learn of changes hours before duty.</a:t>
            </a:r>
          </a:p>
        </p:txBody>
      </p:sp>
      <p:sp>
        <p:nvSpPr>
          <p:cNvPr name="TextBox 14" id="14"/>
          <p:cNvSpPr txBox="true"/>
          <p:nvPr/>
        </p:nvSpPr>
        <p:spPr>
          <a:xfrm rot="0">
            <a:off x="10553446" y="4748404"/>
            <a:ext cx="5276552" cy="1878329"/>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Given the exam timetable, rooms and faculty schedules, assign every exam a venue and invigilators so that all institutional rules hold, and when an incident occurs, repair the allocation with the fewest possible changes, or explain why no repair exists.</a:t>
            </a:r>
          </a:p>
        </p:txBody>
      </p:sp>
      <p:sp>
        <p:nvSpPr>
          <p:cNvPr name="TextBox 15" id="15"/>
          <p:cNvSpPr txBox="true"/>
          <p:nvPr/>
        </p:nvSpPr>
        <p:spPr>
          <a:xfrm rot="0">
            <a:off x="2265728" y="2083495"/>
            <a:ext cx="3095025" cy="32448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Manual allocation</a:t>
            </a:r>
          </a:p>
        </p:txBody>
      </p:sp>
      <p:sp>
        <p:nvSpPr>
          <p:cNvPr name="TextBox 16" id="16"/>
          <p:cNvSpPr txBox="true"/>
          <p:nvPr/>
        </p:nvSpPr>
        <p:spPr>
          <a:xfrm rot="0">
            <a:off x="2265728" y="4068326"/>
            <a:ext cx="2585945" cy="32448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Fragile to change</a:t>
            </a:r>
          </a:p>
        </p:txBody>
      </p:sp>
      <p:sp>
        <p:nvSpPr>
          <p:cNvPr name="TextBox 17" id="17"/>
          <p:cNvSpPr txBox="true"/>
          <p:nvPr/>
        </p:nvSpPr>
        <p:spPr>
          <a:xfrm rot="0">
            <a:off x="14744097" y="696753"/>
            <a:ext cx="2171801" cy="306705"/>
          </a:xfrm>
          <a:prstGeom prst="rect">
            <a:avLst/>
          </a:prstGeom>
        </p:spPr>
        <p:txBody>
          <a:bodyPr anchor="t" rtlCol="false" tIns="0" lIns="0" bIns="0" rIns="0">
            <a:spAutoFit/>
          </a:bodyPr>
          <a:lstStyle/>
          <a:p>
            <a:pPr algn="l">
              <a:lnSpc>
                <a:spcPts val="2520"/>
              </a:lnSpc>
            </a:pPr>
            <a:r>
              <a:rPr lang="en-US" sz="1800">
                <a:solidFill>
                  <a:srgbClr val="363336"/>
                </a:solidFill>
                <a:latin typeface="Inter"/>
                <a:ea typeface="Inter"/>
                <a:cs typeface="Inter"/>
                <a:sym typeface="Inter"/>
              </a:rPr>
              <a:t>Problem Statement</a:t>
            </a:r>
          </a:p>
        </p:txBody>
      </p:sp>
      <p:sp>
        <p:nvSpPr>
          <p:cNvPr name="TextBox 18" id="18"/>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a:off x="1865614" y="3460845"/>
            <a:ext cx="2126908" cy="0"/>
          </a:xfrm>
          <a:prstGeom prst="line">
            <a:avLst/>
          </a:prstGeom>
          <a:ln cap="flat" w="38100">
            <a:solidFill>
              <a:srgbClr val="90816A"/>
            </a:solidFill>
            <a:prstDash val="solid"/>
            <a:headEnd type="none" len="sm" w="sm"/>
            <a:tailEnd type="none" len="sm" w="sm"/>
          </a:ln>
        </p:spPr>
      </p:sp>
      <p:grpSp>
        <p:nvGrpSpPr>
          <p:cNvPr name="Group 4" id="4"/>
          <p:cNvGrpSpPr/>
          <p:nvPr/>
        </p:nvGrpSpPr>
        <p:grpSpPr>
          <a:xfrm rot="0">
            <a:off x="7788713" y="1689195"/>
            <a:ext cx="9041472" cy="3907005"/>
            <a:chOff x="0" y="0"/>
            <a:chExt cx="1400761" cy="605297"/>
          </a:xfrm>
        </p:grpSpPr>
        <p:sp>
          <p:nvSpPr>
            <p:cNvPr name="Freeform 5" id="5"/>
            <p:cNvSpPr/>
            <p:nvPr/>
          </p:nvSpPr>
          <p:spPr>
            <a:xfrm flipH="false" flipV="false" rot="0">
              <a:off x="0" y="0"/>
              <a:ext cx="1400761" cy="605297"/>
            </a:xfrm>
            <a:custGeom>
              <a:avLst/>
              <a:gdLst/>
              <a:ahLst/>
              <a:cxnLst/>
              <a:rect r="r" b="b" t="t" l="l"/>
              <a:pathLst>
                <a:path h="605297" w="1400761">
                  <a:moveTo>
                    <a:pt x="19694" y="0"/>
                  </a:moveTo>
                  <a:lnTo>
                    <a:pt x="1381066" y="0"/>
                  </a:lnTo>
                  <a:cubicBezTo>
                    <a:pt x="1391943" y="0"/>
                    <a:pt x="1400761" y="8817"/>
                    <a:pt x="1400761" y="19694"/>
                  </a:cubicBezTo>
                  <a:lnTo>
                    <a:pt x="1400761" y="585603"/>
                  </a:lnTo>
                  <a:cubicBezTo>
                    <a:pt x="1400761" y="590826"/>
                    <a:pt x="1398686" y="595836"/>
                    <a:pt x="1394992" y="599529"/>
                  </a:cubicBezTo>
                  <a:cubicBezTo>
                    <a:pt x="1391299" y="603222"/>
                    <a:pt x="1386290" y="605297"/>
                    <a:pt x="1381066" y="605297"/>
                  </a:cubicBezTo>
                  <a:lnTo>
                    <a:pt x="19694" y="605297"/>
                  </a:lnTo>
                  <a:cubicBezTo>
                    <a:pt x="8817" y="605297"/>
                    <a:pt x="0" y="596480"/>
                    <a:pt x="0" y="585603"/>
                  </a:cubicBezTo>
                  <a:lnTo>
                    <a:pt x="0" y="19694"/>
                  </a:lnTo>
                  <a:cubicBezTo>
                    <a:pt x="0" y="8817"/>
                    <a:pt x="8817" y="0"/>
                    <a:pt x="19694" y="0"/>
                  </a:cubicBezTo>
                  <a:close/>
                </a:path>
              </a:pathLst>
            </a:custGeom>
            <a:blipFill>
              <a:blip r:embed="rId3"/>
              <a:stretch>
                <a:fillRect l="0" t="-27018" r="0" b="-27018"/>
              </a:stretch>
            </a:blipFill>
          </p:spPr>
        </p:sp>
      </p:grpSp>
      <p:grpSp>
        <p:nvGrpSpPr>
          <p:cNvPr name="Group 6" id="6"/>
          <p:cNvGrpSpPr/>
          <p:nvPr/>
        </p:nvGrpSpPr>
        <p:grpSpPr>
          <a:xfrm rot="0">
            <a:off x="1762082" y="6243899"/>
            <a:ext cx="4463010" cy="3086100"/>
            <a:chOff x="0" y="0"/>
            <a:chExt cx="1175443" cy="812800"/>
          </a:xfrm>
        </p:grpSpPr>
        <p:sp>
          <p:nvSpPr>
            <p:cNvPr name="Freeform 7" id="7"/>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8" id="8"/>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grpSp>
        <p:nvGrpSpPr>
          <p:cNvPr name="Group 9" id="9"/>
          <p:cNvGrpSpPr/>
          <p:nvPr/>
        </p:nvGrpSpPr>
        <p:grpSpPr>
          <a:xfrm rot="0">
            <a:off x="7064629" y="6243899"/>
            <a:ext cx="4463010" cy="3086100"/>
            <a:chOff x="0" y="0"/>
            <a:chExt cx="1175443" cy="812800"/>
          </a:xfrm>
        </p:grpSpPr>
        <p:sp>
          <p:nvSpPr>
            <p:cNvPr name="Freeform 10" id="10"/>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11" id="11"/>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grpSp>
        <p:nvGrpSpPr>
          <p:cNvPr name="Group 12" id="12"/>
          <p:cNvGrpSpPr/>
          <p:nvPr/>
        </p:nvGrpSpPr>
        <p:grpSpPr>
          <a:xfrm rot="0">
            <a:off x="12367175" y="6243899"/>
            <a:ext cx="4463010" cy="3086100"/>
            <a:chOff x="0" y="0"/>
            <a:chExt cx="1175443" cy="812800"/>
          </a:xfrm>
        </p:grpSpPr>
        <p:sp>
          <p:nvSpPr>
            <p:cNvPr name="Freeform 13" id="13"/>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14" id="14"/>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sp>
        <p:nvSpPr>
          <p:cNvPr name="Freeform 15" id="15"/>
          <p:cNvSpPr/>
          <p:nvPr/>
        </p:nvSpPr>
        <p:spPr>
          <a:xfrm flipH="false" flipV="false" rot="0">
            <a:off x="2397575" y="6634836"/>
            <a:ext cx="381257" cy="381257"/>
          </a:xfrm>
          <a:custGeom>
            <a:avLst/>
            <a:gdLst/>
            <a:ahLst/>
            <a:cxnLst/>
            <a:rect r="r" b="b" t="t" l="l"/>
            <a:pathLst>
              <a:path h="381257" w="381257">
                <a:moveTo>
                  <a:pt x="0" y="0"/>
                </a:moveTo>
                <a:lnTo>
                  <a:pt x="381256" y="0"/>
                </a:lnTo>
                <a:lnTo>
                  <a:pt x="381256" y="381257"/>
                </a:lnTo>
                <a:lnTo>
                  <a:pt x="0" y="381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7788713" y="6634836"/>
            <a:ext cx="381257" cy="381257"/>
          </a:xfrm>
          <a:custGeom>
            <a:avLst/>
            <a:gdLst/>
            <a:ahLst/>
            <a:cxnLst/>
            <a:rect r="r" b="b" t="t" l="l"/>
            <a:pathLst>
              <a:path h="381257" w="381257">
                <a:moveTo>
                  <a:pt x="0" y="0"/>
                </a:moveTo>
                <a:lnTo>
                  <a:pt x="381257" y="0"/>
                </a:lnTo>
                <a:lnTo>
                  <a:pt x="381257" y="381257"/>
                </a:lnTo>
                <a:lnTo>
                  <a:pt x="0" y="381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3104564" y="6634836"/>
            <a:ext cx="381257" cy="381257"/>
          </a:xfrm>
          <a:custGeom>
            <a:avLst/>
            <a:gdLst/>
            <a:ahLst/>
            <a:cxnLst/>
            <a:rect r="r" b="b" t="t" l="l"/>
            <a:pathLst>
              <a:path h="381257" w="381257">
                <a:moveTo>
                  <a:pt x="0" y="0"/>
                </a:moveTo>
                <a:lnTo>
                  <a:pt x="381257" y="0"/>
                </a:lnTo>
                <a:lnTo>
                  <a:pt x="381257" y="381257"/>
                </a:lnTo>
                <a:lnTo>
                  <a:pt x="0" y="381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10800000">
            <a:off x="15437788" y="9450111"/>
            <a:ext cx="3115252" cy="543753"/>
          </a:xfrm>
          <a:custGeom>
            <a:avLst/>
            <a:gdLst/>
            <a:ahLst/>
            <a:cxnLst/>
            <a:rect r="r" b="b" t="t" l="l"/>
            <a:pathLst>
              <a:path h="543753" w="3115252">
                <a:moveTo>
                  <a:pt x="0" y="0"/>
                </a:moveTo>
                <a:lnTo>
                  <a:pt x="3115253" y="0"/>
                </a:lnTo>
                <a:lnTo>
                  <a:pt x="3115253" y="543753"/>
                </a:lnTo>
                <a:lnTo>
                  <a:pt x="0" y="5437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1" id="21"/>
          <p:cNvSpPr txBox="true"/>
          <p:nvPr/>
        </p:nvSpPr>
        <p:spPr>
          <a:xfrm rot="0">
            <a:off x="1865614" y="1746345"/>
            <a:ext cx="5472599" cy="1695450"/>
          </a:xfrm>
          <a:prstGeom prst="rect">
            <a:avLst/>
          </a:prstGeom>
        </p:spPr>
        <p:txBody>
          <a:bodyPr anchor="t" rtlCol="false" tIns="0" lIns="0" bIns="0" rIns="0">
            <a:spAutoFit/>
          </a:bodyPr>
          <a:lstStyle/>
          <a:p>
            <a:pPr algn="l">
              <a:lnSpc>
                <a:spcPts val="6600"/>
              </a:lnSpc>
            </a:pPr>
            <a:r>
              <a:rPr lang="en-US" sz="6000" b="true">
                <a:solidFill>
                  <a:srgbClr val="000000"/>
                </a:solidFill>
                <a:latin typeface="Cormorant Garamond Bold"/>
                <a:ea typeface="Cormorant Garamond Bold"/>
                <a:cs typeface="Cormorant Garamond Bold"/>
                <a:sym typeface="Cormorant Garamond Bold"/>
              </a:rPr>
              <a:t>What has been done</a:t>
            </a:r>
          </a:p>
        </p:txBody>
      </p:sp>
      <p:sp>
        <p:nvSpPr>
          <p:cNvPr name="TextBox 22" id="22"/>
          <p:cNvSpPr txBox="true"/>
          <p:nvPr/>
        </p:nvSpPr>
        <p:spPr>
          <a:xfrm rot="0">
            <a:off x="2895938" y="6682049"/>
            <a:ext cx="3329154" cy="292100"/>
          </a:xfrm>
          <a:prstGeom prst="rect">
            <a:avLst/>
          </a:prstGeom>
        </p:spPr>
        <p:txBody>
          <a:bodyPr anchor="t" rtlCol="false" tIns="0" lIns="0" bIns="0" rIns="0">
            <a:spAutoFit/>
          </a:bodyPr>
          <a:lstStyle/>
          <a:p>
            <a:pPr algn="l">
              <a:lnSpc>
                <a:spcPts val="2200"/>
              </a:lnSpc>
            </a:pPr>
            <a:r>
              <a:rPr lang="en-US" sz="2000">
                <a:solidFill>
                  <a:srgbClr val="000000"/>
                </a:solidFill>
                <a:latin typeface="Inter"/>
                <a:ea typeface="Inter"/>
                <a:cs typeface="Inter"/>
                <a:sym typeface="Inter"/>
              </a:rPr>
              <a:t>Constraint foundations</a:t>
            </a:r>
          </a:p>
        </p:txBody>
      </p:sp>
      <p:sp>
        <p:nvSpPr>
          <p:cNvPr name="TextBox 23" id="23"/>
          <p:cNvSpPr txBox="true"/>
          <p:nvPr/>
        </p:nvSpPr>
        <p:spPr>
          <a:xfrm rot="0">
            <a:off x="8361167" y="6534412"/>
            <a:ext cx="3115320" cy="638810"/>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Exam timetabling surveys</a:t>
            </a:r>
          </a:p>
        </p:txBody>
      </p:sp>
      <p:sp>
        <p:nvSpPr>
          <p:cNvPr name="TextBox 24" id="24"/>
          <p:cNvSpPr txBox="true"/>
          <p:nvPr/>
        </p:nvSpPr>
        <p:spPr>
          <a:xfrm rot="0">
            <a:off x="13600121" y="6672747"/>
            <a:ext cx="3389585" cy="32448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Repair methods</a:t>
            </a:r>
          </a:p>
        </p:txBody>
      </p:sp>
      <p:sp>
        <p:nvSpPr>
          <p:cNvPr name="TextBox 25" id="25"/>
          <p:cNvSpPr txBox="true"/>
          <p:nvPr/>
        </p:nvSpPr>
        <p:spPr>
          <a:xfrm rot="0">
            <a:off x="2397575" y="7332538"/>
            <a:ext cx="3189896" cy="156400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Mackworth (1977) introduced AC-3; Russell &amp; Norvig define MRV, LCV, forward checking and min-conflicts.</a:t>
            </a:r>
          </a:p>
        </p:txBody>
      </p:sp>
      <p:sp>
        <p:nvSpPr>
          <p:cNvPr name="TextBox 26" id="26"/>
          <p:cNvSpPr txBox="true"/>
          <p:nvPr/>
        </p:nvSpPr>
        <p:spPr>
          <a:xfrm rot="0">
            <a:off x="7788713" y="7332538"/>
            <a:ext cx="3314386" cy="156400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Qu et al. (2009), Siew et al. (2024): assign exams to periods and rooms; invigilators treated as post-processing.</a:t>
            </a:r>
          </a:p>
        </p:txBody>
      </p:sp>
      <p:sp>
        <p:nvSpPr>
          <p:cNvPr name="TextBox 27" id="27"/>
          <p:cNvSpPr txBox="true"/>
          <p:nvPr/>
        </p:nvSpPr>
        <p:spPr>
          <a:xfrm rot="0">
            <a:off x="13089738" y="7332538"/>
            <a:ext cx="3227940" cy="156400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Minton et al. (1992) showed min-conflicts repairs near-correct schedules in few steps; rarely applied to invigilator duties.</a:t>
            </a:r>
          </a:p>
        </p:txBody>
      </p:sp>
      <p:sp>
        <p:nvSpPr>
          <p:cNvPr name="TextBox 28" id="28"/>
          <p:cNvSpPr txBox="true"/>
          <p:nvPr/>
        </p:nvSpPr>
        <p:spPr>
          <a:xfrm rot="0">
            <a:off x="1865614" y="3975195"/>
            <a:ext cx="5002826" cy="156400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Examination timetabling is a standard CSP benchmark. Surveys by Qu et al. (2009) and Siew et al. (2024) cover graph colouring, constraint methods and metaheuristics; all target generation from scratch.</a:t>
            </a:r>
          </a:p>
        </p:txBody>
      </p:sp>
      <p:sp>
        <p:nvSpPr>
          <p:cNvPr name="TextBox 29" id="29"/>
          <p:cNvSpPr txBox="true"/>
          <p:nvPr/>
        </p:nvSpPr>
        <p:spPr>
          <a:xfrm rot="0">
            <a:off x="14703708" y="712453"/>
            <a:ext cx="2171801" cy="306705"/>
          </a:xfrm>
          <a:prstGeom prst="rect">
            <a:avLst/>
          </a:prstGeom>
        </p:spPr>
        <p:txBody>
          <a:bodyPr anchor="t" rtlCol="false" tIns="0" lIns="0" bIns="0" rIns="0">
            <a:spAutoFit/>
          </a:bodyPr>
          <a:lstStyle/>
          <a:p>
            <a:pPr algn="l">
              <a:lnSpc>
                <a:spcPts val="2520"/>
              </a:lnSpc>
            </a:pPr>
            <a:r>
              <a:rPr lang="en-US" sz="1800">
                <a:solidFill>
                  <a:srgbClr val="363336"/>
                </a:solidFill>
                <a:latin typeface="Inter"/>
                <a:ea typeface="Inter"/>
                <a:cs typeface="Inter"/>
                <a:sym typeface="Inter"/>
              </a:rPr>
              <a:t>Literature survey</a:t>
            </a:r>
          </a:p>
        </p:txBody>
      </p:sp>
      <p:sp>
        <p:nvSpPr>
          <p:cNvPr name="TextBox 30" id="30"/>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a:off x="1833019" y="4555463"/>
            <a:ext cx="2126908" cy="0"/>
          </a:xfrm>
          <a:prstGeom prst="line">
            <a:avLst/>
          </a:prstGeom>
          <a:ln cap="flat" w="38100">
            <a:solidFill>
              <a:srgbClr val="90816A"/>
            </a:solidFill>
            <a:prstDash val="solid"/>
            <a:headEnd type="none" len="sm" w="sm"/>
            <a:tailEnd type="none" len="sm" w="sm"/>
          </a:ln>
        </p:spPr>
      </p:sp>
      <p:grpSp>
        <p:nvGrpSpPr>
          <p:cNvPr name="Group 4" id="4"/>
          <p:cNvGrpSpPr/>
          <p:nvPr/>
        </p:nvGrpSpPr>
        <p:grpSpPr>
          <a:xfrm rot="0">
            <a:off x="7692234" y="2068494"/>
            <a:ext cx="4463010" cy="3086100"/>
            <a:chOff x="0" y="0"/>
            <a:chExt cx="1175443" cy="812800"/>
          </a:xfrm>
        </p:grpSpPr>
        <p:sp>
          <p:nvSpPr>
            <p:cNvPr name="Freeform 5" id="5"/>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6" id="6"/>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grpSp>
        <p:nvGrpSpPr>
          <p:cNvPr name="Group 7" id="7"/>
          <p:cNvGrpSpPr/>
          <p:nvPr/>
        </p:nvGrpSpPr>
        <p:grpSpPr>
          <a:xfrm rot="0">
            <a:off x="7692234" y="5630126"/>
            <a:ext cx="4463010" cy="3086100"/>
            <a:chOff x="0" y="0"/>
            <a:chExt cx="1175443" cy="812800"/>
          </a:xfrm>
        </p:grpSpPr>
        <p:sp>
          <p:nvSpPr>
            <p:cNvPr name="Freeform 8" id="8"/>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9" id="9"/>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grpSp>
        <p:nvGrpSpPr>
          <p:cNvPr name="Group 10" id="10"/>
          <p:cNvGrpSpPr/>
          <p:nvPr/>
        </p:nvGrpSpPr>
        <p:grpSpPr>
          <a:xfrm rot="0">
            <a:off x="12582028" y="2068494"/>
            <a:ext cx="4463010" cy="3086100"/>
            <a:chOff x="0" y="0"/>
            <a:chExt cx="1175443" cy="812800"/>
          </a:xfrm>
        </p:grpSpPr>
        <p:sp>
          <p:nvSpPr>
            <p:cNvPr name="Freeform 11" id="11"/>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12" id="12"/>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grpSp>
        <p:nvGrpSpPr>
          <p:cNvPr name="Group 13" id="13"/>
          <p:cNvGrpSpPr/>
          <p:nvPr/>
        </p:nvGrpSpPr>
        <p:grpSpPr>
          <a:xfrm rot="0">
            <a:off x="12582028" y="5630126"/>
            <a:ext cx="4463010" cy="3086100"/>
            <a:chOff x="0" y="0"/>
            <a:chExt cx="1175443" cy="812800"/>
          </a:xfrm>
        </p:grpSpPr>
        <p:sp>
          <p:nvSpPr>
            <p:cNvPr name="Freeform 14" id="14"/>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15" id="15"/>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grpSp>
        <p:nvGrpSpPr>
          <p:cNvPr name="Group 16" id="16"/>
          <p:cNvGrpSpPr/>
          <p:nvPr/>
        </p:nvGrpSpPr>
        <p:grpSpPr>
          <a:xfrm rot="0">
            <a:off x="11906767" y="3105913"/>
            <a:ext cx="869072" cy="86907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18" id="18"/>
            <p:cNvSpPr txBox="true"/>
            <p:nvPr/>
          </p:nvSpPr>
          <p:spPr>
            <a:xfrm>
              <a:off x="76200" y="95250"/>
              <a:ext cx="660400" cy="641350"/>
            </a:xfrm>
            <a:prstGeom prst="rect">
              <a:avLst/>
            </a:prstGeom>
          </p:spPr>
          <p:txBody>
            <a:bodyPr anchor="ctr" rtlCol="false" tIns="50800" lIns="50800" bIns="50800" rIns="50800"/>
            <a:lstStyle/>
            <a:p>
              <a:pPr algn="ctr">
                <a:lnSpc>
                  <a:spcPts val="2530"/>
                </a:lnSpc>
              </a:pPr>
            </a:p>
          </p:txBody>
        </p:sp>
      </p:grpSp>
      <p:grpSp>
        <p:nvGrpSpPr>
          <p:cNvPr name="Group 19" id="19"/>
          <p:cNvGrpSpPr/>
          <p:nvPr/>
        </p:nvGrpSpPr>
        <p:grpSpPr>
          <a:xfrm rot="0">
            <a:off x="11906767" y="6626939"/>
            <a:ext cx="869072" cy="86907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21" id="21"/>
            <p:cNvSpPr txBox="true"/>
            <p:nvPr/>
          </p:nvSpPr>
          <p:spPr>
            <a:xfrm>
              <a:off x="76200" y="95250"/>
              <a:ext cx="660400" cy="641350"/>
            </a:xfrm>
            <a:prstGeom prst="rect">
              <a:avLst/>
            </a:prstGeom>
          </p:spPr>
          <p:txBody>
            <a:bodyPr anchor="ctr" rtlCol="false" tIns="50800" lIns="50800" bIns="50800" rIns="50800"/>
            <a:lstStyle/>
            <a:p>
              <a:pPr algn="ctr">
                <a:lnSpc>
                  <a:spcPts val="2530"/>
                </a:lnSpc>
              </a:pPr>
            </a:p>
          </p:txBody>
        </p:sp>
      </p:grpSp>
      <p:sp>
        <p:nvSpPr>
          <p:cNvPr name="Freeform 22" id="22"/>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12018125" y="3395313"/>
            <a:ext cx="646356" cy="290273"/>
          </a:xfrm>
          <a:custGeom>
            <a:avLst/>
            <a:gdLst/>
            <a:ahLst/>
            <a:cxnLst/>
            <a:rect r="r" b="b" t="t" l="l"/>
            <a:pathLst>
              <a:path h="290273" w="646356">
                <a:moveTo>
                  <a:pt x="0" y="0"/>
                </a:moveTo>
                <a:lnTo>
                  <a:pt x="646356" y="0"/>
                </a:lnTo>
                <a:lnTo>
                  <a:pt x="646356" y="290272"/>
                </a:lnTo>
                <a:lnTo>
                  <a:pt x="0" y="2902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5" id="25"/>
          <p:cNvSpPr/>
          <p:nvPr/>
        </p:nvSpPr>
        <p:spPr>
          <a:xfrm flipH="false" flipV="false" rot="0">
            <a:off x="12018125" y="6916339"/>
            <a:ext cx="646356" cy="290273"/>
          </a:xfrm>
          <a:custGeom>
            <a:avLst/>
            <a:gdLst/>
            <a:ahLst/>
            <a:cxnLst/>
            <a:rect r="r" b="b" t="t" l="l"/>
            <a:pathLst>
              <a:path h="290273" w="646356">
                <a:moveTo>
                  <a:pt x="0" y="0"/>
                </a:moveTo>
                <a:lnTo>
                  <a:pt x="646356" y="0"/>
                </a:lnTo>
                <a:lnTo>
                  <a:pt x="646356" y="290273"/>
                </a:lnTo>
                <a:lnTo>
                  <a:pt x="0" y="2902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6" id="26"/>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7" id="27"/>
          <p:cNvSpPr txBox="true"/>
          <p:nvPr/>
        </p:nvSpPr>
        <p:spPr>
          <a:xfrm rot="0">
            <a:off x="1773144" y="1588349"/>
            <a:ext cx="4634432" cy="273050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Where existing systems stop</a:t>
            </a:r>
          </a:p>
        </p:txBody>
      </p:sp>
      <p:sp>
        <p:nvSpPr>
          <p:cNvPr name="TextBox 28" id="28"/>
          <p:cNvSpPr txBox="true"/>
          <p:nvPr/>
        </p:nvSpPr>
        <p:spPr>
          <a:xfrm rot="0">
            <a:off x="1833019" y="5116494"/>
            <a:ext cx="5276552" cy="1249679"/>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Timetabling research has solved the generation problem well: given exams, periods and rooms, surveys. Yet three needs of a working examination cell remain unaddressed.</a:t>
            </a:r>
          </a:p>
        </p:txBody>
      </p:sp>
      <p:sp>
        <p:nvSpPr>
          <p:cNvPr name="TextBox 29" id="29"/>
          <p:cNvSpPr txBox="true"/>
          <p:nvPr/>
        </p:nvSpPr>
        <p:spPr>
          <a:xfrm rot="0">
            <a:off x="8417471" y="2532886"/>
            <a:ext cx="3115320" cy="32448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Existing 1</a:t>
            </a:r>
          </a:p>
        </p:txBody>
      </p:sp>
      <p:sp>
        <p:nvSpPr>
          <p:cNvPr name="TextBox 30" id="30"/>
          <p:cNvSpPr txBox="true"/>
          <p:nvPr/>
        </p:nvSpPr>
        <p:spPr>
          <a:xfrm rot="0">
            <a:off x="8417471" y="6074294"/>
            <a:ext cx="3115320" cy="32448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Existing 2</a:t>
            </a:r>
          </a:p>
        </p:txBody>
      </p:sp>
      <p:sp>
        <p:nvSpPr>
          <p:cNvPr name="TextBox 31" id="31"/>
          <p:cNvSpPr txBox="true"/>
          <p:nvPr/>
        </p:nvSpPr>
        <p:spPr>
          <a:xfrm rot="0">
            <a:off x="13380028" y="2532886"/>
            <a:ext cx="3115320" cy="32448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Ours 1</a:t>
            </a:r>
          </a:p>
        </p:txBody>
      </p:sp>
      <p:sp>
        <p:nvSpPr>
          <p:cNvPr name="TextBox 32" id="32"/>
          <p:cNvSpPr txBox="true"/>
          <p:nvPr/>
        </p:nvSpPr>
        <p:spPr>
          <a:xfrm rot="0">
            <a:off x="13380028" y="6074294"/>
            <a:ext cx="3115320" cy="32448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Ours 2</a:t>
            </a:r>
          </a:p>
        </p:txBody>
      </p:sp>
      <p:sp>
        <p:nvSpPr>
          <p:cNvPr name="TextBox 33" id="33"/>
          <p:cNvSpPr txBox="true"/>
          <p:nvPr/>
        </p:nvSpPr>
        <p:spPr>
          <a:xfrm rot="0">
            <a:off x="8001059" y="3173850"/>
            <a:ext cx="3781339" cy="156400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Any change triggers a full re-solve, so exams and staff unrelated to the incident are moved too. Faculty get a new duty chart for the week because one lab failed.</a:t>
            </a:r>
          </a:p>
        </p:txBody>
      </p:sp>
      <p:sp>
        <p:nvSpPr>
          <p:cNvPr name="TextBox 34" id="34"/>
          <p:cNvSpPr txBox="true"/>
          <p:nvPr/>
        </p:nvSpPr>
        <p:spPr>
          <a:xfrm rot="0">
            <a:off x="12999787" y="3016770"/>
            <a:ext cx="3627492" cy="1878329"/>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Only affected assignments are released and repaired with min-conflicts under a change penalty λ. A broken lab moves one exam; only faculty whose duties changed are notified.</a:t>
            </a:r>
          </a:p>
        </p:txBody>
      </p:sp>
      <p:sp>
        <p:nvSpPr>
          <p:cNvPr name="TextBox 35" id="35"/>
          <p:cNvSpPr txBox="true"/>
          <p:nvPr/>
        </p:nvSpPr>
        <p:spPr>
          <a:xfrm rot="0">
            <a:off x="13442517" y="741838"/>
            <a:ext cx="3400617" cy="306705"/>
          </a:xfrm>
          <a:prstGeom prst="rect">
            <a:avLst/>
          </a:prstGeom>
        </p:spPr>
        <p:txBody>
          <a:bodyPr anchor="t" rtlCol="false" tIns="0" lIns="0" bIns="0" rIns="0">
            <a:spAutoFit/>
          </a:bodyPr>
          <a:lstStyle/>
          <a:p>
            <a:pPr algn="r">
              <a:lnSpc>
                <a:spcPts val="2520"/>
              </a:lnSpc>
            </a:pPr>
            <a:r>
              <a:rPr lang="en-US" sz="1800">
                <a:solidFill>
                  <a:srgbClr val="363336"/>
                </a:solidFill>
                <a:latin typeface="Inter"/>
                <a:ea typeface="Inter"/>
                <a:cs typeface="Inter"/>
                <a:sym typeface="Inter"/>
              </a:rPr>
              <a:t>Research Gap</a:t>
            </a:r>
          </a:p>
        </p:txBody>
      </p:sp>
      <p:sp>
        <p:nvSpPr>
          <p:cNvPr name="TextBox 36" id="36"/>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sp>
        <p:nvSpPr>
          <p:cNvPr name="TextBox 37" id="37"/>
          <p:cNvSpPr txBox="true"/>
          <p:nvPr/>
        </p:nvSpPr>
        <p:spPr>
          <a:xfrm rot="0">
            <a:off x="1854891" y="6909098"/>
            <a:ext cx="5276552" cy="1878329"/>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The schedule is treated as disposable and regenerated after every change, invigilator duties are left outside the model, and infeasible cases are reported as plain failure. This project targets all three with a single CSP model solved by two complementary search algorithms.</a:t>
            </a:r>
          </a:p>
        </p:txBody>
      </p:sp>
      <p:sp>
        <p:nvSpPr>
          <p:cNvPr name="TextBox 38" id="38"/>
          <p:cNvSpPr txBox="true"/>
          <p:nvPr/>
        </p:nvSpPr>
        <p:spPr>
          <a:xfrm rot="0">
            <a:off x="13042539" y="6537797"/>
            <a:ext cx="3627492" cy="1878329"/>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Venue and invigilators are assigned together as one CSP under H1–H7, so no faculty member is placed in a hall during their own lecture or beyond the daily duty limit.</a:t>
            </a:r>
          </a:p>
        </p:txBody>
      </p:sp>
      <p:sp>
        <p:nvSpPr>
          <p:cNvPr name="TextBox 39" id="39"/>
          <p:cNvSpPr txBox="true"/>
          <p:nvPr/>
        </p:nvSpPr>
        <p:spPr>
          <a:xfrm rot="0">
            <a:off x="8033070" y="6713104"/>
            <a:ext cx="3781339" cy="156400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Rooms and periods are modelled, but faculty timetables, leave and duty limits are not, so invigilator allocation remains a manual step afterwards.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a:off x="1589335" y="2940134"/>
            <a:ext cx="2126908" cy="0"/>
          </a:xfrm>
          <a:prstGeom prst="line">
            <a:avLst/>
          </a:prstGeom>
          <a:ln cap="flat" w="38100">
            <a:solidFill>
              <a:srgbClr val="90816A"/>
            </a:solidFill>
            <a:prstDash val="solid"/>
            <a:headEnd type="none" len="sm" w="sm"/>
            <a:tailEnd type="none" len="sm" w="sm"/>
          </a:ln>
        </p:spPr>
      </p:sp>
      <p:grpSp>
        <p:nvGrpSpPr>
          <p:cNvPr name="Group 4" id="4"/>
          <p:cNvGrpSpPr/>
          <p:nvPr/>
        </p:nvGrpSpPr>
        <p:grpSpPr>
          <a:xfrm rot="0">
            <a:off x="11299082" y="1823749"/>
            <a:ext cx="5642470" cy="7025767"/>
            <a:chOff x="0" y="0"/>
            <a:chExt cx="874166" cy="1088475"/>
          </a:xfrm>
        </p:grpSpPr>
        <p:sp>
          <p:nvSpPr>
            <p:cNvPr name="Freeform 5" id="5"/>
            <p:cNvSpPr/>
            <p:nvPr/>
          </p:nvSpPr>
          <p:spPr>
            <a:xfrm flipH="false" flipV="false" rot="0">
              <a:off x="0" y="0"/>
              <a:ext cx="874166" cy="1088475"/>
            </a:xfrm>
            <a:custGeom>
              <a:avLst/>
              <a:gdLst/>
              <a:ahLst/>
              <a:cxnLst/>
              <a:rect r="r" b="b" t="t" l="l"/>
              <a:pathLst>
                <a:path h="1088475" w="874166">
                  <a:moveTo>
                    <a:pt x="31558" y="0"/>
                  </a:moveTo>
                  <a:lnTo>
                    <a:pt x="842608" y="0"/>
                  </a:lnTo>
                  <a:cubicBezTo>
                    <a:pt x="850978" y="0"/>
                    <a:pt x="859005" y="3325"/>
                    <a:pt x="864923" y="9243"/>
                  </a:cubicBezTo>
                  <a:cubicBezTo>
                    <a:pt x="870841" y="15161"/>
                    <a:pt x="874166" y="23188"/>
                    <a:pt x="874166" y="31558"/>
                  </a:cubicBezTo>
                  <a:lnTo>
                    <a:pt x="874166" y="1056917"/>
                  </a:lnTo>
                  <a:cubicBezTo>
                    <a:pt x="874166" y="1065287"/>
                    <a:pt x="870841" y="1073314"/>
                    <a:pt x="864923" y="1079232"/>
                  </a:cubicBezTo>
                  <a:cubicBezTo>
                    <a:pt x="859005" y="1085150"/>
                    <a:pt x="850978" y="1088475"/>
                    <a:pt x="842608" y="1088475"/>
                  </a:cubicBezTo>
                  <a:lnTo>
                    <a:pt x="31558" y="1088475"/>
                  </a:lnTo>
                  <a:cubicBezTo>
                    <a:pt x="23188" y="1088475"/>
                    <a:pt x="15161" y="1085150"/>
                    <a:pt x="9243" y="1079232"/>
                  </a:cubicBezTo>
                  <a:cubicBezTo>
                    <a:pt x="3325" y="1073314"/>
                    <a:pt x="0" y="1065287"/>
                    <a:pt x="0" y="1056917"/>
                  </a:cubicBezTo>
                  <a:lnTo>
                    <a:pt x="0" y="31558"/>
                  </a:lnTo>
                  <a:cubicBezTo>
                    <a:pt x="0" y="23188"/>
                    <a:pt x="3325" y="15161"/>
                    <a:pt x="9243" y="9243"/>
                  </a:cubicBezTo>
                  <a:cubicBezTo>
                    <a:pt x="15161" y="3325"/>
                    <a:pt x="23188" y="0"/>
                    <a:pt x="31558" y="0"/>
                  </a:cubicBezTo>
                  <a:close/>
                </a:path>
              </a:pathLst>
            </a:custGeom>
            <a:blipFill>
              <a:blip r:embed="rId3"/>
              <a:stretch>
                <a:fillRect l="-43445" t="0" r="-43445" b="0"/>
              </a:stretch>
            </a:blipFill>
          </p:spPr>
        </p:sp>
      </p:grpSp>
      <p:sp>
        <p:nvSpPr>
          <p:cNvPr name="Freeform 6" id="6"/>
          <p:cNvSpPr/>
          <p:nvPr/>
        </p:nvSpPr>
        <p:spPr>
          <a:xfrm flipH="false" flipV="false" rot="0">
            <a:off x="1378430" y="4133805"/>
            <a:ext cx="402758" cy="402758"/>
          </a:xfrm>
          <a:custGeom>
            <a:avLst/>
            <a:gdLst/>
            <a:ahLst/>
            <a:cxnLst/>
            <a:rect r="r" b="b" t="t" l="l"/>
            <a:pathLst>
              <a:path h="402758" w="402758">
                <a:moveTo>
                  <a:pt x="0" y="0"/>
                </a:moveTo>
                <a:lnTo>
                  <a:pt x="402758" y="0"/>
                </a:lnTo>
                <a:lnTo>
                  <a:pt x="402758" y="402757"/>
                </a:lnTo>
                <a:lnTo>
                  <a:pt x="0" y="4027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320205" y="4133805"/>
            <a:ext cx="402758" cy="402758"/>
          </a:xfrm>
          <a:custGeom>
            <a:avLst/>
            <a:gdLst/>
            <a:ahLst/>
            <a:cxnLst/>
            <a:rect r="r" b="b" t="t" l="l"/>
            <a:pathLst>
              <a:path h="402758" w="402758">
                <a:moveTo>
                  <a:pt x="0" y="0"/>
                </a:moveTo>
                <a:lnTo>
                  <a:pt x="402757" y="0"/>
                </a:lnTo>
                <a:lnTo>
                  <a:pt x="402757" y="402757"/>
                </a:lnTo>
                <a:lnTo>
                  <a:pt x="0" y="4027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6320205" y="6566899"/>
            <a:ext cx="402758" cy="402758"/>
          </a:xfrm>
          <a:custGeom>
            <a:avLst/>
            <a:gdLst/>
            <a:ahLst/>
            <a:cxnLst/>
            <a:rect r="r" b="b" t="t" l="l"/>
            <a:pathLst>
              <a:path h="402758" w="402758">
                <a:moveTo>
                  <a:pt x="0" y="0"/>
                </a:moveTo>
                <a:lnTo>
                  <a:pt x="402757" y="0"/>
                </a:lnTo>
                <a:lnTo>
                  <a:pt x="402757" y="402757"/>
                </a:lnTo>
                <a:lnTo>
                  <a:pt x="0" y="4027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378430" y="6566899"/>
            <a:ext cx="402758" cy="402758"/>
          </a:xfrm>
          <a:custGeom>
            <a:avLst/>
            <a:gdLst/>
            <a:ahLst/>
            <a:cxnLst/>
            <a:rect r="r" b="b" t="t" l="l"/>
            <a:pathLst>
              <a:path h="402758" w="402758">
                <a:moveTo>
                  <a:pt x="0" y="0"/>
                </a:moveTo>
                <a:lnTo>
                  <a:pt x="402758" y="0"/>
                </a:lnTo>
                <a:lnTo>
                  <a:pt x="402758" y="402757"/>
                </a:lnTo>
                <a:lnTo>
                  <a:pt x="0" y="4027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89335" y="3275323"/>
            <a:ext cx="1045375" cy="296506"/>
          </a:xfrm>
          <a:custGeom>
            <a:avLst/>
            <a:gdLst/>
            <a:ahLst/>
            <a:cxnLst/>
            <a:rect r="r" b="b" t="t" l="l"/>
            <a:pathLst>
              <a:path h="296506" w="1045375">
                <a:moveTo>
                  <a:pt x="0" y="0"/>
                </a:moveTo>
                <a:lnTo>
                  <a:pt x="1045375" y="0"/>
                </a:lnTo>
                <a:lnTo>
                  <a:pt x="1045375" y="296507"/>
                </a:lnTo>
                <a:lnTo>
                  <a:pt x="0" y="2965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1589335" y="1784508"/>
            <a:ext cx="5905426"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Objectives</a:t>
            </a:r>
          </a:p>
        </p:txBody>
      </p:sp>
      <p:sp>
        <p:nvSpPr>
          <p:cNvPr name="TextBox 14" id="14"/>
          <p:cNvSpPr txBox="true"/>
          <p:nvPr/>
        </p:nvSpPr>
        <p:spPr>
          <a:xfrm rot="0">
            <a:off x="1987675" y="4172762"/>
            <a:ext cx="1698904" cy="343859"/>
          </a:xfrm>
          <a:prstGeom prst="rect">
            <a:avLst/>
          </a:prstGeom>
        </p:spPr>
        <p:txBody>
          <a:bodyPr anchor="t" rtlCol="false" tIns="0" lIns="0" bIns="0" rIns="0">
            <a:spAutoFit/>
          </a:bodyPr>
          <a:lstStyle/>
          <a:p>
            <a:pPr algn="l">
              <a:lnSpc>
                <a:spcPts val="2672"/>
              </a:lnSpc>
            </a:pPr>
            <a:r>
              <a:rPr lang="en-US" sz="2429">
                <a:solidFill>
                  <a:srgbClr val="000000"/>
                </a:solidFill>
                <a:latin typeface="Inter"/>
                <a:ea typeface="Inter"/>
                <a:cs typeface="Inter"/>
                <a:sym typeface="Inter"/>
              </a:rPr>
              <a:t>Formulate </a:t>
            </a:r>
          </a:p>
        </p:txBody>
      </p:sp>
      <p:sp>
        <p:nvSpPr>
          <p:cNvPr name="TextBox 15" id="15"/>
          <p:cNvSpPr txBox="true"/>
          <p:nvPr/>
        </p:nvSpPr>
        <p:spPr>
          <a:xfrm rot="0">
            <a:off x="6934268" y="4172762"/>
            <a:ext cx="3291007" cy="343859"/>
          </a:xfrm>
          <a:prstGeom prst="rect">
            <a:avLst/>
          </a:prstGeom>
        </p:spPr>
        <p:txBody>
          <a:bodyPr anchor="t" rtlCol="false" tIns="0" lIns="0" bIns="0" rIns="0">
            <a:spAutoFit/>
          </a:bodyPr>
          <a:lstStyle/>
          <a:p>
            <a:pPr algn="l">
              <a:lnSpc>
                <a:spcPts val="2672"/>
              </a:lnSpc>
            </a:pPr>
            <a:r>
              <a:rPr lang="en-US" sz="2429">
                <a:solidFill>
                  <a:srgbClr val="000000"/>
                </a:solidFill>
                <a:latin typeface="Inter"/>
                <a:ea typeface="Inter"/>
                <a:cs typeface="Inter"/>
                <a:sym typeface="Inter"/>
              </a:rPr>
              <a:t>Generate </a:t>
            </a:r>
          </a:p>
        </p:txBody>
      </p:sp>
      <p:sp>
        <p:nvSpPr>
          <p:cNvPr name="TextBox 16" id="16"/>
          <p:cNvSpPr txBox="true"/>
          <p:nvPr/>
        </p:nvSpPr>
        <p:spPr>
          <a:xfrm rot="0">
            <a:off x="1987675" y="6605856"/>
            <a:ext cx="3291007" cy="343859"/>
          </a:xfrm>
          <a:prstGeom prst="rect">
            <a:avLst/>
          </a:prstGeom>
        </p:spPr>
        <p:txBody>
          <a:bodyPr anchor="t" rtlCol="false" tIns="0" lIns="0" bIns="0" rIns="0">
            <a:spAutoFit/>
          </a:bodyPr>
          <a:lstStyle/>
          <a:p>
            <a:pPr algn="l">
              <a:lnSpc>
                <a:spcPts val="2672"/>
              </a:lnSpc>
            </a:pPr>
            <a:r>
              <a:rPr lang="en-US" sz="2429">
                <a:solidFill>
                  <a:srgbClr val="000000"/>
                </a:solidFill>
                <a:latin typeface="Inter"/>
                <a:ea typeface="Inter"/>
                <a:cs typeface="Inter"/>
                <a:sym typeface="Inter"/>
              </a:rPr>
              <a:t>Repair </a:t>
            </a:r>
          </a:p>
        </p:txBody>
      </p:sp>
      <p:sp>
        <p:nvSpPr>
          <p:cNvPr name="TextBox 17" id="17"/>
          <p:cNvSpPr txBox="true"/>
          <p:nvPr/>
        </p:nvSpPr>
        <p:spPr>
          <a:xfrm rot="0">
            <a:off x="6947501" y="6605856"/>
            <a:ext cx="3230987" cy="343859"/>
          </a:xfrm>
          <a:prstGeom prst="rect">
            <a:avLst/>
          </a:prstGeom>
        </p:spPr>
        <p:txBody>
          <a:bodyPr anchor="t" rtlCol="false" tIns="0" lIns="0" bIns="0" rIns="0">
            <a:spAutoFit/>
          </a:bodyPr>
          <a:lstStyle/>
          <a:p>
            <a:pPr algn="l">
              <a:lnSpc>
                <a:spcPts val="2672"/>
              </a:lnSpc>
            </a:pPr>
            <a:r>
              <a:rPr lang="en-US" sz="2429">
                <a:solidFill>
                  <a:srgbClr val="000000"/>
                </a:solidFill>
                <a:latin typeface="Inter"/>
                <a:ea typeface="Inter"/>
                <a:cs typeface="Inter"/>
                <a:sym typeface="Inter"/>
              </a:rPr>
              <a:t>Validate and deliver</a:t>
            </a:r>
          </a:p>
        </p:txBody>
      </p:sp>
      <p:sp>
        <p:nvSpPr>
          <p:cNvPr name="TextBox 18" id="18"/>
          <p:cNvSpPr txBox="true"/>
          <p:nvPr/>
        </p:nvSpPr>
        <p:spPr>
          <a:xfrm rot="0">
            <a:off x="1378430" y="4853095"/>
            <a:ext cx="4545600" cy="985954"/>
          </a:xfrm>
          <a:prstGeom prst="rect">
            <a:avLst/>
          </a:prstGeom>
        </p:spPr>
        <p:txBody>
          <a:bodyPr anchor="t" rtlCol="false" tIns="0" lIns="0" bIns="0" rIns="0">
            <a:spAutoFit/>
          </a:bodyPr>
          <a:lstStyle/>
          <a:p>
            <a:pPr algn="l">
              <a:lnSpc>
                <a:spcPts val="2662"/>
              </a:lnSpc>
            </a:pPr>
            <a:r>
              <a:rPr lang="en-US" sz="1901">
                <a:solidFill>
                  <a:srgbClr val="737373"/>
                </a:solidFill>
                <a:latin typeface="Inter"/>
                <a:ea typeface="Inter"/>
                <a:cs typeface="Inter"/>
                <a:sym typeface="Inter"/>
              </a:rPr>
              <a:t>Model allocation as a CSP with hard constraints H1–H7 and weighted soft constraints S1–S5</a:t>
            </a:r>
          </a:p>
        </p:txBody>
      </p:sp>
      <p:sp>
        <p:nvSpPr>
          <p:cNvPr name="TextBox 19" id="19"/>
          <p:cNvSpPr txBox="true"/>
          <p:nvPr/>
        </p:nvSpPr>
        <p:spPr>
          <a:xfrm rot="0">
            <a:off x="6320205" y="4853095"/>
            <a:ext cx="4545600" cy="985954"/>
          </a:xfrm>
          <a:prstGeom prst="rect">
            <a:avLst/>
          </a:prstGeom>
        </p:spPr>
        <p:txBody>
          <a:bodyPr anchor="t" rtlCol="false" tIns="0" lIns="0" bIns="0" rIns="0">
            <a:spAutoFit/>
          </a:bodyPr>
          <a:lstStyle/>
          <a:p>
            <a:pPr algn="l">
              <a:lnSpc>
                <a:spcPts val="2662"/>
              </a:lnSpc>
            </a:pPr>
            <a:r>
              <a:rPr lang="en-US" sz="1901">
                <a:solidFill>
                  <a:srgbClr val="737373"/>
                </a:solidFill>
                <a:latin typeface="Inter"/>
                <a:ea typeface="Inter"/>
                <a:cs typeface="Inter"/>
                <a:sym typeface="Inter"/>
              </a:rPr>
              <a:t>Implement AC-3 and backtracking with MRV, degree, LCV and forward checking</a:t>
            </a:r>
          </a:p>
        </p:txBody>
      </p:sp>
      <p:sp>
        <p:nvSpPr>
          <p:cNvPr name="TextBox 20" id="20"/>
          <p:cNvSpPr txBox="true"/>
          <p:nvPr/>
        </p:nvSpPr>
        <p:spPr>
          <a:xfrm rot="0">
            <a:off x="1378430" y="7286189"/>
            <a:ext cx="4545600" cy="985954"/>
          </a:xfrm>
          <a:prstGeom prst="rect">
            <a:avLst/>
          </a:prstGeom>
        </p:spPr>
        <p:txBody>
          <a:bodyPr anchor="t" rtlCol="false" tIns="0" lIns="0" bIns="0" rIns="0">
            <a:spAutoFit/>
          </a:bodyPr>
          <a:lstStyle/>
          <a:p>
            <a:pPr algn="l">
              <a:lnSpc>
                <a:spcPts val="2662"/>
              </a:lnSpc>
            </a:pPr>
            <a:r>
              <a:rPr lang="en-US" sz="1901">
                <a:solidFill>
                  <a:srgbClr val="737373"/>
                </a:solidFill>
                <a:latin typeface="Inter"/>
                <a:ea typeface="Inter"/>
                <a:cs typeface="Inter"/>
                <a:sym typeface="Inter"/>
              </a:rPr>
              <a:t>Implement min-conflicts with a change penalty λ for incident-driven rescheduling</a:t>
            </a:r>
          </a:p>
        </p:txBody>
      </p:sp>
      <p:sp>
        <p:nvSpPr>
          <p:cNvPr name="TextBox 21" id="21"/>
          <p:cNvSpPr txBox="true"/>
          <p:nvPr/>
        </p:nvSpPr>
        <p:spPr>
          <a:xfrm rot="0">
            <a:off x="6320205" y="7286189"/>
            <a:ext cx="4545600" cy="985954"/>
          </a:xfrm>
          <a:prstGeom prst="rect">
            <a:avLst/>
          </a:prstGeom>
        </p:spPr>
        <p:txBody>
          <a:bodyPr anchor="t" rtlCol="false" tIns="0" lIns="0" bIns="0" rIns="0">
            <a:spAutoFit/>
          </a:bodyPr>
          <a:lstStyle/>
          <a:p>
            <a:pPr algn="l">
              <a:lnSpc>
                <a:spcPts val="2662"/>
              </a:lnSpc>
            </a:pPr>
            <a:r>
              <a:rPr lang="en-US" sz="1901">
                <a:solidFill>
                  <a:srgbClr val="737373"/>
                </a:solidFill>
                <a:latin typeface="Inter"/>
                <a:ea typeface="Inter"/>
                <a:cs typeface="Inter"/>
                <a:sym typeface="Inter"/>
              </a:rPr>
              <a:t>Independent validator, infeasibility explainer, role-based web app with college login</a:t>
            </a:r>
          </a:p>
        </p:txBody>
      </p:sp>
      <p:sp>
        <p:nvSpPr>
          <p:cNvPr name="TextBox 22" id="22"/>
          <p:cNvSpPr txBox="true"/>
          <p:nvPr/>
        </p:nvSpPr>
        <p:spPr>
          <a:xfrm rot="0">
            <a:off x="14120317" y="721995"/>
            <a:ext cx="2680882" cy="306705"/>
          </a:xfrm>
          <a:prstGeom prst="rect">
            <a:avLst/>
          </a:prstGeom>
        </p:spPr>
        <p:txBody>
          <a:bodyPr anchor="t" rtlCol="false" tIns="0" lIns="0" bIns="0" rIns="0">
            <a:spAutoFit/>
          </a:bodyPr>
          <a:lstStyle/>
          <a:p>
            <a:pPr algn="l">
              <a:lnSpc>
                <a:spcPts val="2520"/>
              </a:lnSpc>
            </a:pPr>
            <a:r>
              <a:rPr lang="en-US" sz="1800">
                <a:solidFill>
                  <a:srgbClr val="363336"/>
                </a:solidFill>
                <a:latin typeface="Inter"/>
                <a:ea typeface="Inter"/>
                <a:cs typeface="Inter"/>
                <a:sym typeface="Inter"/>
              </a:rPr>
              <a:t>Research Objectives</a:t>
            </a:r>
          </a:p>
        </p:txBody>
      </p:sp>
      <p:sp>
        <p:nvSpPr>
          <p:cNvPr name="TextBox 23" id="23"/>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826440" y="1784508"/>
            <a:ext cx="12635120" cy="920750"/>
          </a:xfrm>
          <a:prstGeom prst="rect">
            <a:avLst/>
          </a:prstGeom>
        </p:spPr>
        <p:txBody>
          <a:bodyPr anchor="t" rtlCol="false" tIns="0" lIns="0" bIns="0" rIns="0">
            <a:spAutoFit/>
          </a:bodyPr>
          <a:lstStyle/>
          <a:p>
            <a:pPr algn="ctr">
              <a:lnSpc>
                <a:spcPts val="7150"/>
              </a:lnSpc>
            </a:pPr>
            <a:r>
              <a:rPr lang="en-US" sz="6500" b="true">
                <a:solidFill>
                  <a:srgbClr val="000000"/>
                </a:solidFill>
                <a:latin typeface="Cormorant Garamond Bold"/>
                <a:ea typeface="Cormorant Garamond Bold"/>
                <a:cs typeface="Cormorant Garamond Bold"/>
                <a:sym typeface="Cormorant Garamond Bold"/>
              </a:rPr>
              <a:t>Generate, repair, explain</a:t>
            </a:r>
          </a:p>
        </p:txBody>
      </p:sp>
      <p:sp>
        <p:nvSpPr>
          <p:cNvPr name="TextBox 4" id="4"/>
          <p:cNvSpPr txBox="true"/>
          <p:nvPr/>
        </p:nvSpPr>
        <p:spPr>
          <a:xfrm rot="0">
            <a:off x="3739509" y="3993020"/>
            <a:ext cx="10767279" cy="621029"/>
          </a:xfrm>
          <a:prstGeom prst="rect">
            <a:avLst/>
          </a:prstGeom>
        </p:spPr>
        <p:txBody>
          <a:bodyPr anchor="t" rtlCol="false" tIns="0" lIns="0" bIns="0" rIns="0">
            <a:spAutoFit/>
          </a:bodyPr>
          <a:lstStyle/>
          <a:p>
            <a:pPr algn="ctr">
              <a:lnSpc>
                <a:spcPts val="2520"/>
              </a:lnSpc>
            </a:pPr>
            <a:r>
              <a:rPr lang="en-US" sz="1800">
                <a:solidFill>
                  <a:srgbClr val="737373"/>
                </a:solidFill>
                <a:latin typeface="Inter"/>
                <a:ea typeface="Inter"/>
                <a:cs typeface="Inter"/>
                <a:sym typeface="Inter"/>
              </a:rPr>
              <a:t>The published schedule is treated as a commitment. A complete search algorithm builds it from nothing; a fast local search protects it when something breaks.</a:t>
            </a:r>
          </a:p>
        </p:txBody>
      </p:sp>
      <p:sp>
        <p:nvSpPr>
          <p:cNvPr name="AutoShape 5" id="5"/>
          <p:cNvSpPr/>
          <p:nvPr/>
        </p:nvSpPr>
        <p:spPr>
          <a:xfrm>
            <a:off x="8080546" y="3411995"/>
            <a:ext cx="2126908" cy="0"/>
          </a:xfrm>
          <a:prstGeom prst="line">
            <a:avLst/>
          </a:prstGeom>
          <a:ln cap="flat" w="38100">
            <a:solidFill>
              <a:srgbClr val="90816A"/>
            </a:solidFill>
            <a:prstDash val="solid"/>
            <a:headEnd type="none" len="sm" w="sm"/>
            <a:tailEnd type="none" len="sm" w="sm"/>
          </a:ln>
        </p:spPr>
      </p:sp>
      <p:sp>
        <p:nvSpPr>
          <p:cNvPr name="TextBox 6" id="6"/>
          <p:cNvSpPr txBox="true"/>
          <p:nvPr/>
        </p:nvSpPr>
        <p:spPr>
          <a:xfrm rot="0">
            <a:off x="2327650" y="6363841"/>
            <a:ext cx="3115320" cy="324485"/>
          </a:xfrm>
          <a:prstGeom prst="rect">
            <a:avLst/>
          </a:prstGeom>
        </p:spPr>
        <p:txBody>
          <a:bodyPr anchor="t" rtlCol="false" tIns="0" lIns="0" bIns="0" rIns="0">
            <a:spAutoFit/>
          </a:bodyPr>
          <a:lstStyle/>
          <a:p>
            <a:pPr algn="ctr">
              <a:lnSpc>
                <a:spcPts val="2530"/>
              </a:lnSpc>
            </a:pPr>
            <a:r>
              <a:rPr lang="en-US" sz="2300">
                <a:solidFill>
                  <a:srgbClr val="000000"/>
                </a:solidFill>
                <a:latin typeface="Inter"/>
                <a:ea typeface="Inter"/>
                <a:cs typeface="Inter"/>
                <a:sym typeface="Inter"/>
              </a:rPr>
              <a:t>Generate </a:t>
            </a:r>
          </a:p>
        </p:txBody>
      </p:sp>
      <p:grpSp>
        <p:nvGrpSpPr>
          <p:cNvPr name="Group 7" id="7"/>
          <p:cNvGrpSpPr/>
          <p:nvPr/>
        </p:nvGrpSpPr>
        <p:grpSpPr>
          <a:xfrm rot="0">
            <a:off x="6891644" y="5553379"/>
            <a:ext cx="4463010" cy="3086100"/>
            <a:chOff x="0" y="0"/>
            <a:chExt cx="1175443" cy="812800"/>
          </a:xfrm>
        </p:grpSpPr>
        <p:sp>
          <p:nvSpPr>
            <p:cNvPr name="Freeform 8" id="8"/>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9" id="9"/>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grpSp>
        <p:nvGrpSpPr>
          <p:cNvPr name="Group 10" id="10"/>
          <p:cNvGrpSpPr/>
          <p:nvPr/>
        </p:nvGrpSpPr>
        <p:grpSpPr>
          <a:xfrm rot="0">
            <a:off x="1619009" y="5528449"/>
            <a:ext cx="4463010" cy="3086100"/>
            <a:chOff x="0" y="0"/>
            <a:chExt cx="1175443" cy="812800"/>
          </a:xfrm>
        </p:grpSpPr>
        <p:sp>
          <p:nvSpPr>
            <p:cNvPr name="Freeform 11" id="11"/>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12" id="12"/>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grpSp>
        <p:nvGrpSpPr>
          <p:cNvPr name="Group 13" id="13"/>
          <p:cNvGrpSpPr/>
          <p:nvPr/>
        </p:nvGrpSpPr>
        <p:grpSpPr>
          <a:xfrm rot="0">
            <a:off x="12167932" y="5553379"/>
            <a:ext cx="4463010" cy="3086100"/>
            <a:chOff x="0" y="0"/>
            <a:chExt cx="1175443" cy="812800"/>
          </a:xfrm>
        </p:grpSpPr>
        <p:sp>
          <p:nvSpPr>
            <p:cNvPr name="Freeform 14" id="14"/>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15" id="15"/>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sp>
        <p:nvSpPr>
          <p:cNvPr name="TextBox 16" id="16"/>
          <p:cNvSpPr txBox="true"/>
          <p:nvPr/>
        </p:nvSpPr>
        <p:spPr>
          <a:xfrm rot="0">
            <a:off x="7586340" y="6363841"/>
            <a:ext cx="3115320" cy="324485"/>
          </a:xfrm>
          <a:prstGeom prst="rect">
            <a:avLst/>
          </a:prstGeom>
        </p:spPr>
        <p:txBody>
          <a:bodyPr anchor="t" rtlCol="false" tIns="0" lIns="0" bIns="0" rIns="0">
            <a:spAutoFit/>
          </a:bodyPr>
          <a:lstStyle/>
          <a:p>
            <a:pPr algn="ctr">
              <a:lnSpc>
                <a:spcPts val="2530"/>
              </a:lnSpc>
            </a:pPr>
            <a:r>
              <a:rPr lang="en-US" sz="2300">
                <a:solidFill>
                  <a:srgbClr val="000000"/>
                </a:solidFill>
                <a:latin typeface="Inter"/>
                <a:ea typeface="Inter"/>
                <a:cs typeface="Inter"/>
                <a:sym typeface="Inter"/>
              </a:rPr>
              <a:t>Repair </a:t>
            </a:r>
          </a:p>
        </p:txBody>
      </p:sp>
      <p:sp>
        <p:nvSpPr>
          <p:cNvPr name="TextBox 17" id="17"/>
          <p:cNvSpPr txBox="true"/>
          <p:nvPr/>
        </p:nvSpPr>
        <p:spPr>
          <a:xfrm rot="0">
            <a:off x="12841777" y="6363841"/>
            <a:ext cx="3115320" cy="324485"/>
          </a:xfrm>
          <a:prstGeom prst="rect">
            <a:avLst/>
          </a:prstGeom>
        </p:spPr>
        <p:txBody>
          <a:bodyPr anchor="t" rtlCol="false" tIns="0" lIns="0" bIns="0" rIns="0">
            <a:spAutoFit/>
          </a:bodyPr>
          <a:lstStyle/>
          <a:p>
            <a:pPr algn="ctr">
              <a:lnSpc>
                <a:spcPts val="2530"/>
              </a:lnSpc>
            </a:pPr>
            <a:r>
              <a:rPr lang="en-US" sz="2300">
                <a:solidFill>
                  <a:srgbClr val="000000"/>
                </a:solidFill>
                <a:latin typeface="Inter"/>
                <a:ea typeface="Inter"/>
                <a:cs typeface="Inter"/>
                <a:sym typeface="Inter"/>
              </a:rPr>
              <a:t>Explain </a:t>
            </a:r>
          </a:p>
        </p:txBody>
      </p:sp>
      <p:sp>
        <p:nvSpPr>
          <p:cNvPr name="TextBox 18" id="18"/>
          <p:cNvSpPr txBox="true"/>
          <p:nvPr/>
        </p:nvSpPr>
        <p:spPr>
          <a:xfrm rot="0">
            <a:off x="2030746" y="7004805"/>
            <a:ext cx="3709128" cy="1249679"/>
          </a:xfrm>
          <a:prstGeom prst="rect">
            <a:avLst/>
          </a:prstGeom>
        </p:spPr>
        <p:txBody>
          <a:bodyPr anchor="t" rtlCol="false" tIns="0" lIns="0" bIns="0" rIns="0">
            <a:spAutoFit/>
          </a:bodyPr>
          <a:lstStyle/>
          <a:p>
            <a:pPr algn="ctr">
              <a:lnSpc>
                <a:spcPts val="2520"/>
              </a:lnSpc>
            </a:pPr>
            <a:r>
              <a:rPr lang="en-US" sz="1800">
                <a:solidFill>
                  <a:srgbClr val="737373"/>
                </a:solidFill>
                <a:latin typeface="Inter"/>
                <a:ea typeface="Inter"/>
                <a:cs typeface="Inter"/>
                <a:sym typeface="Inter"/>
              </a:rPr>
              <a:t>AC-3 prunes domains, backtracking assigns venue and invigilators per exam, hill climbing balances duty load</a:t>
            </a:r>
          </a:p>
        </p:txBody>
      </p:sp>
      <p:sp>
        <p:nvSpPr>
          <p:cNvPr name="TextBox 19" id="19"/>
          <p:cNvSpPr txBox="true"/>
          <p:nvPr/>
        </p:nvSpPr>
        <p:spPr>
          <a:xfrm rot="0">
            <a:off x="7289436" y="7004805"/>
            <a:ext cx="3709128" cy="1249679"/>
          </a:xfrm>
          <a:prstGeom prst="rect">
            <a:avLst/>
          </a:prstGeom>
        </p:spPr>
        <p:txBody>
          <a:bodyPr anchor="t" rtlCol="false" tIns="0" lIns="0" bIns="0" rIns="0">
            <a:spAutoFit/>
          </a:bodyPr>
          <a:lstStyle/>
          <a:p>
            <a:pPr algn="ctr">
              <a:lnSpc>
                <a:spcPts val="2520"/>
              </a:lnSpc>
            </a:pPr>
            <a:r>
              <a:rPr lang="en-US" sz="1800">
                <a:solidFill>
                  <a:srgbClr val="737373"/>
                </a:solidFill>
                <a:latin typeface="Inter"/>
                <a:ea typeface="Inter"/>
                <a:cs typeface="Inter"/>
                <a:sym typeface="Inter"/>
              </a:rPr>
              <a:t>Incident releases only affected slots; min-conflicts reassigns with penalty λ per change; validator re-checks</a:t>
            </a:r>
          </a:p>
        </p:txBody>
      </p:sp>
      <p:sp>
        <p:nvSpPr>
          <p:cNvPr name="TextBox 20" id="20"/>
          <p:cNvSpPr txBox="true"/>
          <p:nvPr/>
        </p:nvSpPr>
        <p:spPr>
          <a:xfrm rot="0">
            <a:off x="12544873" y="7004805"/>
            <a:ext cx="3709128" cy="1249679"/>
          </a:xfrm>
          <a:prstGeom prst="rect">
            <a:avLst/>
          </a:prstGeom>
        </p:spPr>
        <p:txBody>
          <a:bodyPr anchor="t" rtlCol="false" tIns="0" lIns="0" bIns="0" rIns="0">
            <a:spAutoFit/>
          </a:bodyPr>
          <a:lstStyle/>
          <a:p>
            <a:pPr algn="ctr">
              <a:lnSpc>
                <a:spcPts val="2520"/>
              </a:lnSpc>
            </a:pPr>
            <a:r>
              <a:rPr lang="en-US" sz="1800">
                <a:solidFill>
                  <a:srgbClr val="737373"/>
                </a:solidFill>
                <a:latin typeface="Inter"/>
                <a:ea typeface="Inter"/>
                <a:cs typeface="Inter"/>
                <a:sym typeface="Inter"/>
              </a:rPr>
              <a:t>If no repair exists, name the blocking constraint and suggest a relaxation: new date, larger room, one extra duty</a:t>
            </a:r>
          </a:p>
        </p:txBody>
      </p:sp>
      <p:sp>
        <p:nvSpPr>
          <p:cNvPr name="TextBox 21" id="21"/>
          <p:cNvSpPr txBox="true"/>
          <p:nvPr/>
        </p:nvSpPr>
        <p:spPr>
          <a:xfrm rot="0">
            <a:off x="15168101" y="792003"/>
            <a:ext cx="2171801" cy="306705"/>
          </a:xfrm>
          <a:prstGeom prst="rect">
            <a:avLst/>
          </a:prstGeom>
        </p:spPr>
        <p:txBody>
          <a:bodyPr anchor="t" rtlCol="false" tIns="0" lIns="0" bIns="0" rIns="0">
            <a:spAutoFit/>
          </a:bodyPr>
          <a:lstStyle/>
          <a:p>
            <a:pPr algn="l">
              <a:lnSpc>
                <a:spcPts val="2520"/>
              </a:lnSpc>
            </a:pPr>
            <a:r>
              <a:rPr lang="en-US" sz="1800">
                <a:solidFill>
                  <a:srgbClr val="363336"/>
                </a:solidFill>
                <a:latin typeface="Inter"/>
                <a:ea typeface="Inter"/>
                <a:cs typeface="Inter"/>
                <a:sym typeface="Inter"/>
              </a:rPr>
              <a:t>Proposed work</a:t>
            </a:r>
          </a:p>
        </p:txBody>
      </p:sp>
      <p:grpSp>
        <p:nvGrpSpPr>
          <p:cNvPr name="Group 22" id="22"/>
          <p:cNvGrpSpPr/>
          <p:nvPr/>
        </p:nvGrpSpPr>
        <p:grpSpPr>
          <a:xfrm rot="0">
            <a:off x="3450774" y="5230868"/>
            <a:ext cx="869072" cy="86907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24" id="24"/>
            <p:cNvSpPr txBox="true"/>
            <p:nvPr/>
          </p:nvSpPr>
          <p:spPr>
            <a:xfrm>
              <a:off x="76200" y="95250"/>
              <a:ext cx="660400" cy="641350"/>
            </a:xfrm>
            <a:prstGeom prst="rect">
              <a:avLst/>
            </a:prstGeom>
          </p:spPr>
          <p:txBody>
            <a:bodyPr anchor="ctr" rtlCol="false" tIns="50800" lIns="50800" bIns="50800" rIns="50800"/>
            <a:lstStyle/>
            <a:p>
              <a:pPr algn="ctr">
                <a:lnSpc>
                  <a:spcPts val="2530"/>
                </a:lnSpc>
              </a:pPr>
            </a:p>
          </p:txBody>
        </p:sp>
      </p:grpSp>
      <p:grpSp>
        <p:nvGrpSpPr>
          <p:cNvPr name="Group 25" id="25"/>
          <p:cNvGrpSpPr/>
          <p:nvPr/>
        </p:nvGrpSpPr>
        <p:grpSpPr>
          <a:xfrm rot="0">
            <a:off x="8709464" y="5230868"/>
            <a:ext cx="869072" cy="86907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27" id="27"/>
            <p:cNvSpPr txBox="true"/>
            <p:nvPr/>
          </p:nvSpPr>
          <p:spPr>
            <a:xfrm>
              <a:off x="76200" y="95250"/>
              <a:ext cx="660400" cy="641350"/>
            </a:xfrm>
            <a:prstGeom prst="rect">
              <a:avLst/>
            </a:prstGeom>
          </p:spPr>
          <p:txBody>
            <a:bodyPr anchor="ctr" rtlCol="false" tIns="50800" lIns="50800" bIns="50800" rIns="50800"/>
            <a:lstStyle/>
            <a:p>
              <a:pPr algn="ctr">
                <a:lnSpc>
                  <a:spcPts val="2530"/>
                </a:lnSpc>
              </a:pPr>
            </a:p>
          </p:txBody>
        </p:sp>
      </p:grpSp>
      <p:grpSp>
        <p:nvGrpSpPr>
          <p:cNvPr name="Group 28" id="28"/>
          <p:cNvGrpSpPr/>
          <p:nvPr/>
        </p:nvGrpSpPr>
        <p:grpSpPr>
          <a:xfrm rot="0">
            <a:off x="13964901" y="5230868"/>
            <a:ext cx="869072" cy="869072"/>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30" id="30"/>
            <p:cNvSpPr txBox="true"/>
            <p:nvPr/>
          </p:nvSpPr>
          <p:spPr>
            <a:xfrm>
              <a:off x="76200" y="95250"/>
              <a:ext cx="660400" cy="641350"/>
            </a:xfrm>
            <a:prstGeom prst="rect">
              <a:avLst/>
            </a:prstGeom>
          </p:spPr>
          <p:txBody>
            <a:bodyPr anchor="ctr" rtlCol="false" tIns="50800" lIns="50800" bIns="50800" rIns="50800"/>
            <a:lstStyle/>
            <a:p>
              <a:pPr algn="ctr">
                <a:lnSpc>
                  <a:spcPts val="2530"/>
                </a:lnSpc>
              </a:pPr>
            </a:p>
          </p:txBody>
        </p:sp>
      </p:grpSp>
      <p:sp>
        <p:nvSpPr>
          <p:cNvPr name="TextBox 31" id="31"/>
          <p:cNvSpPr txBox="true"/>
          <p:nvPr/>
        </p:nvSpPr>
        <p:spPr>
          <a:xfrm rot="0">
            <a:off x="3593604" y="5512670"/>
            <a:ext cx="583412" cy="324518"/>
          </a:xfrm>
          <a:prstGeom prst="rect">
            <a:avLst/>
          </a:prstGeom>
        </p:spPr>
        <p:txBody>
          <a:bodyPr anchor="t" rtlCol="false" tIns="0" lIns="0" bIns="0" rIns="0">
            <a:spAutoFit/>
          </a:bodyPr>
          <a:lstStyle/>
          <a:p>
            <a:pPr algn="ctr">
              <a:lnSpc>
                <a:spcPts val="2530"/>
              </a:lnSpc>
            </a:pPr>
            <a:r>
              <a:rPr lang="en-US" sz="2300">
                <a:solidFill>
                  <a:srgbClr val="000000"/>
                </a:solidFill>
                <a:latin typeface="Inter"/>
                <a:ea typeface="Inter"/>
                <a:cs typeface="Inter"/>
                <a:sym typeface="Inter"/>
              </a:rPr>
              <a:t>01</a:t>
            </a:r>
          </a:p>
        </p:txBody>
      </p:sp>
      <p:sp>
        <p:nvSpPr>
          <p:cNvPr name="TextBox 32" id="32"/>
          <p:cNvSpPr txBox="true"/>
          <p:nvPr/>
        </p:nvSpPr>
        <p:spPr>
          <a:xfrm rot="0">
            <a:off x="8852294" y="5512670"/>
            <a:ext cx="583412" cy="324518"/>
          </a:xfrm>
          <a:prstGeom prst="rect">
            <a:avLst/>
          </a:prstGeom>
        </p:spPr>
        <p:txBody>
          <a:bodyPr anchor="t" rtlCol="false" tIns="0" lIns="0" bIns="0" rIns="0">
            <a:spAutoFit/>
          </a:bodyPr>
          <a:lstStyle/>
          <a:p>
            <a:pPr algn="ctr">
              <a:lnSpc>
                <a:spcPts val="2530"/>
              </a:lnSpc>
            </a:pPr>
            <a:r>
              <a:rPr lang="en-US" sz="2300">
                <a:solidFill>
                  <a:srgbClr val="000000"/>
                </a:solidFill>
                <a:latin typeface="Inter"/>
                <a:ea typeface="Inter"/>
                <a:cs typeface="Inter"/>
                <a:sym typeface="Inter"/>
              </a:rPr>
              <a:t>02</a:t>
            </a:r>
          </a:p>
        </p:txBody>
      </p:sp>
      <p:sp>
        <p:nvSpPr>
          <p:cNvPr name="TextBox 33" id="33"/>
          <p:cNvSpPr txBox="true"/>
          <p:nvPr/>
        </p:nvSpPr>
        <p:spPr>
          <a:xfrm rot="0">
            <a:off x="14107731" y="5512670"/>
            <a:ext cx="583412" cy="324518"/>
          </a:xfrm>
          <a:prstGeom prst="rect">
            <a:avLst/>
          </a:prstGeom>
        </p:spPr>
        <p:txBody>
          <a:bodyPr anchor="t" rtlCol="false" tIns="0" lIns="0" bIns="0" rIns="0">
            <a:spAutoFit/>
          </a:bodyPr>
          <a:lstStyle/>
          <a:p>
            <a:pPr algn="ctr">
              <a:lnSpc>
                <a:spcPts val="2530"/>
              </a:lnSpc>
            </a:pPr>
            <a:r>
              <a:rPr lang="en-US" sz="2300">
                <a:solidFill>
                  <a:srgbClr val="000000"/>
                </a:solidFill>
                <a:latin typeface="Inter"/>
                <a:ea typeface="Inter"/>
                <a:cs typeface="Inter"/>
                <a:sym typeface="Inter"/>
              </a:rPr>
              <a:t>03</a:t>
            </a:r>
          </a:p>
        </p:txBody>
      </p:sp>
      <p:sp>
        <p:nvSpPr>
          <p:cNvPr name="Freeform 34" id="34"/>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5" id="35"/>
          <p:cNvSpPr/>
          <p:nvPr/>
        </p:nvSpPr>
        <p:spPr>
          <a:xfrm flipH="false" flipV="false" rot="0">
            <a:off x="1364364" y="2063293"/>
            <a:ext cx="1045375" cy="296506"/>
          </a:xfrm>
          <a:custGeom>
            <a:avLst/>
            <a:gdLst/>
            <a:ahLst/>
            <a:cxnLst/>
            <a:rect r="r" b="b" t="t" l="l"/>
            <a:pathLst>
              <a:path h="296506" w="1045375">
                <a:moveTo>
                  <a:pt x="0" y="0"/>
                </a:moveTo>
                <a:lnTo>
                  <a:pt x="1045376" y="0"/>
                </a:lnTo>
                <a:lnTo>
                  <a:pt x="1045376"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6" id="36"/>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7" id="37"/>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a:off x="2110827" y="2782272"/>
            <a:ext cx="2126908" cy="0"/>
          </a:xfrm>
          <a:prstGeom prst="line">
            <a:avLst/>
          </a:prstGeom>
          <a:ln cap="flat" w="38100">
            <a:solidFill>
              <a:srgbClr val="90816A"/>
            </a:solidFill>
            <a:prstDash val="solid"/>
            <a:headEnd type="none" len="sm" w="sm"/>
            <a:tailEnd type="none" len="sm" w="sm"/>
          </a:ln>
        </p:spPr>
      </p:sp>
      <p:sp>
        <p:nvSpPr>
          <p:cNvPr name="Freeform 4" id="4"/>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621312" y="792046"/>
            <a:ext cx="1045375" cy="296506"/>
          </a:xfrm>
          <a:custGeom>
            <a:avLst/>
            <a:gdLst/>
            <a:ahLst/>
            <a:cxnLst/>
            <a:rect r="r" b="b" t="t" l="l"/>
            <a:pathLst>
              <a:path h="296506" w="1045375">
                <a:moveTo>
                  <a:pt x="0" y="0"/>
                </a:moveTo>
                <a:lnTo>
                  <a:pt x="1045376" y="0"/>
                </a:lnTo>
                <a:lnTo>
                  <a:pt x="1045376" y="296507"/>
                </a:lnTo>
                <a:lnTo>
                  <a:pt x="0" y="2965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854891" y="4331719"/>
            <a:ext cx="13084230" cy="5511732"/>
          </a:xfrm>
          <a:custGeom>
            <a:avLst/>
            <a:gdLst/>
            <a:ahLst/>
            <a:cxnLst/>
            <a:rect r="r" b="b" t="t" l="l"/>
            <a:pathLst>
              <a:path h="5511732" w="13084230">
                <a:moveTo>
                  <a:pt x="0" y="0"/>
                </a:moveTo>
                <a:lnTo>
                  <a:pt x="13084230" y="0"/>
                </a:lnTo>
                <a:lnTo>
                  <a:pt x="13084230" y="5511732"/>
                </a:lnTo>
                <a:lnTo>
                  <a:pt x="0" y="5511732"/>
                </a:lnTo>
                <a:lnTo>
                  <a:pt x="0" y="0"/>
                </a:lnTo>
                <a:close/>
              </a:path>
            </a:pathLst>
          </a:custGeom>
          <a:blipFill>
            <a:blip r:embed="rId9"/>
            <a:stretch>
              <a:fillRect l="0" t="0" r="0" b="0"/>
            </a:stretch>
          </a:blipFill>
        </p:spPr>
      </p:sp>
      <p:sp>
        <p:nvSpPr>
          <p:cNvPr name="TextBox 8" id="8"/>
          <p:cNvSpPr txBox="true"/>
          <p:nvPr/>
        </p:nvSpPr>
        <p:spPr>
          <a:xfrm rot="0">
            <a:off x="2110827" y="1711979"/>
            <a:ext cx="7484018"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Architecture</a:t>
            </a:r>
          </a:p>
        </p:txBody>
      </p:sp>
      <p:sp>
        <p:nvSpPr>
          <p:cNvPr name="TextBox 9" id="9"/>
          <p:cNvSpPr txBox="true"/>
          <p:nvPr/>
        </p:nvSpPr>
        <p:spPr>
          <a:xfrm rot="0">
            <a:off x="2110827" y="2893714"/>
            <a:ext cx="5276552" cy="1249679"/>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Administrator imports exams, rooms, faculty and timetable; the CSP engine builds domains, runs AC-3, backtracking and hill climbing; results are validated and stored as versions.</a:t>
            </a:r>
          </a:p>
        </p:txBody>
      </p:sp>
      <p:sp>
        <p:nvSpPr>
          <p:cNvPr name="TextBox 10" id="10"/>
          <p:cNvSpPr txBox="true"/>
          <p:nvPr/>
        </p:nvSpPr>
        <p:spPr>
          <a:xfrm rot="0">
            <a:off x="8166150" y="2893714"/>
            <a:ext cx="5598433" cy="93535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Incident reports enter the rescheduling module, which repairs with min-conflicts and publishes a diff to affected faculty only.</a:t>
            </a:r>
          </a:p>
        </p:txBody>
      </p:sp>
      <p:sp>
        <p:nvSpPr>
          <p:cNvPr name="TextBox 11" id="11"/>
          <p:cNvSpPr txBox="true"/>
          <p:nvPr/>
        </p:nvSpPr>
        <p:spPr>
          <a:xfrm rot="0">
            <a:off x="14666191" y="767897"/>
            <a:ext cx="2593109" cy="306705"/>
          </a:xfrm>
          <a:prstGeom prst="rect">
            <a:avLst/>
          </a:prstGeom>
        </p:spPr>
        <p:txBody>
          <a:bodyPr anchor="t" rtlCol="false" tIns="0" lIns="0" bIns="0" rIns="0">
            <a:spAutoFit/>
          </a:bodyPr>
          <a:lstStyle/>
          <a:p>
            <a:pPr algn="r">
              <a:lnSpc>
                <a:spcPts val="2520"/>
              </a:lnSpc>
            </a:pPr>
            <a:r>
              <a:rPr lang="en-US" sz="1800">
                <a:solidFill>
                  <a:srgbClr val="363336"/>
                </a:solidFill>
                <a:latin typeface="Inter"/>
                <a:ea typeface="Inter"/>
                <a:cs typeface="Inter"/>
                <a:sym typeface="Inter"/>
              </a:rPr>
              <a:t>Architecture</a:t>
            </a:r>
          </a:p>
        </p:txBody>
      </p:sp>
      <p:sp>
        <p:nvSpPr>
          <p:cNvPr name="TextBox 12" id="12"/>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a:off x="10611468" y="4225803"/>
            <a:ext cx="2126908" cy="0"/>
          </a:xfrm>
          <a:prstGeom prst="line">
            <a:avLst/>
          </a:prstGeom>
          <a:ln cap="flat" w="38100">
            <a:solidFill>
              <a:srgbClr val="90816A"/>
            </a:solidFill>
            <a:prstDash val="solid"/>
            <a:headEnd type="none" len="sm" w="sm"/>
            <a:tailEnd type="none" len="sm" w="sm"/>
          </a:ln>
        </p:spPr>
      </p:sp>
      <p:sp>
        <p:nvSpPr>
          <p:cNvPr name="Freeform 4" id="4"/>
          <p:cNvSpPr/>
          <p:nvPr/>
        </p:nvSpPr>
        <p:spPr>
          <a:xfrm flipH="false" flipV="false" rot="0">
            <a:off x="1618133" y="2026757"/>
            <a:ext cx="408142" cy="408142"/>
          </a:xfrm>
          <a:custGeom>
            <a:avLst/>
            <a:gdLst/>
            <a:ahLst/>
            <a:cxnLst/>
            <a:rect r="r" b="b" t="t" l="l"/>
            <a:pathLst>
              <a:path h="408142" w="408142">
                <a:moveTo>
                  <a:pt x="0" y="0"/>
                </a:moveTo>
                <a:lnTo>
                  <a:pt x="408142" y="0"/>
                </a:lnTo>
                <a:lnTo>
                  <a:pt x="408142" y="408142"/>
                </a:lnTo>
                <a:lnTo>
                  <a:pt x="0" y="408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16661" y="3670587"/>
            <a:ext cx="408142" cy="408142"/>
          </a:xfrm>
          <a:custGeom>
            <a:avLst/>
            <a:gdLst/>
            <a:ahLst/>
            <a:cxnLst/>
            <a:rect r="r" b="b" t="t" l="l"/>
            <a:pathLst>
              <a:path h="408142" w="408142">
                <a:moveTo>
                  <a:pt x="0" y="0"/>
                </a:moveTo>
                <a:lnTo>
                  <a:pt x="408142" y="0"/>
                </a:lnTo>
                <a:lnTo>
                  <a:pt x="408142" y="408142"/>
                </a:lnTo>
                <a:lnTo>
                  <a:pt x="0" y="408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8" id="8"/>
          <p:cNvGrpSpPr/>
          <p:nvPr/>
        </p:nvGrpSpPr>
        <p:grpSpPr>
          <a:xfrm rot="0">
            <a:off x="10365987" y="6855333"/>
            <a:ext cx="7067059" cy="2946720"/>
            <a:chOff x="0" y="0"/>
            <a:chExt cx="1861283" cy="776091"/>
          </a:xfrm>
        </p:grpSpPr>
        <p:sp>
          <p:nvSpPr>
            <p:cNvPr name="Freeform 9" id="9"/>
            <p:cNvSpPr/>
            <p:nvPr/>
          </p:nvSpPr>
          <p:spPr>
            <a:xfrm flipH="false" flipV="false" rot="0">
              <a:off x="0" y="0"/>
              <a:ext cx="1861283" cy="776091"/>
            </a:xfrm>
            <a:custGeom>
              <a:avLst/>
              <a:gdLst/>
              <a:ahLst/>
              <a:cxnLst/>
              <a:rect r="r" b="b" t="t" l="l"/>
              <a:pathLst>
                <a:path h="776091" w="1861283">
                  <a:moveTo>
                    <a:pt x="18623" y="0"/>
                  </a:moveTo>
                  <a:lnTo>
                    <a:pt x="1842660" y="0"/>
                  </a:lnTo>
                  <a:cubicBezTo>
                    <a:pt x="1852945" y="0"/>
                    <a:pt x="1861283" y="8338"/>
                    <a:pt x="1861283" y="18623"/>
                  </a:cubicBezTo>
                  <a:lnTo>
                    <a:pt x="1861283" y="757467"/>
                  </a:lnTo>
                  <a:cubicBezTo>
                    <a:pt x="1861283" y="767753"/>
                    <a:pt x="1852945" y="776091"/>
                    <a:pt x="1842660" y="776091"/>
                  </a:cubicBezTo>
                  <a:lnTo>
                    <a:pt x="18623" y="776091"/>
                  </a:lnTo>
                  <a:cubicBezTo>
                    <a:pt x="8338" y="776091"/>
                    <a:pt x="0" y="767753"/>
                    <a:pt x="0" y="757467"/>
                  </a:cubicBezTo>
                  <a:lnTo>
                    <a:pt x="0" y="18623"/>
                  </a:lnTo>
                  <a:cubicBezTo>
                    <a:pt x="0" y="8338"/>
                    <a:pt x="8338" y="0"/>
                    <a:pt x="18623" y="0"/>
                  </a:cubicBezTo>
                  <a:close/>
                </a:path>
              </a:pathLst>
            </a:custGeom>
            <a:solidFill>
              <a:srgbClr val="90816A"/>
            </a:solidFill>
          </p:spPr>
        </p:sp>
        <p:sp>
          <p:nvSpPr>
            <p:cNvPr name="TextBox 10" id="10"/>
            <p:cNvSpPr txBox="true"/>
            <p:nvPr/>
          </p:nvSpPr>
          <p:spPr>
            <a:xfrm>
              <a:off x="0" y="19050"/>
              <a:ext cx="1861283" cy="757041"/>
            </a:xfrm>
            <a:prstGeom prst="rect">
              <a:avLst/>
            </a:prstGeom>
          </p:spPr>
          <p:txBody>
            <a:bodyPr anchor="ctr" rtlCol="false" tIns="50800" lIns="50800" bIns="50800" rIns="50800"/>
            <a:lstStyle/>
            <a:p>
              <a:pPr algn="ctr">
                <a:lnSpc>
                  <a:spcPts val="2530"/>
                </a:lnSpc>
              </a:pPr>
            </a:p>
          </p:txBody>
        </p:sp>
      </p:grpSp>
      <p:sp>
        <p:nvSpPr>
          <p:cNvPr name="Freeform 11" id="11"/>
          <p:cNvSpPr/>
          <p:nvPr/>
        </p:nvSpPr>
        <p:spPr>
          <a:xfrm flipH="false" flipV="false" rot="0">
            <a:off x="1616661" y="5541582"/>
            <a:ext cx="408142" cy="408142"/>
          </a:xfrm>
          <a:custGeom>
            <a:avLst/>
            <a:gdLst/>
            <a:ahLst/>
            <a:cxnLst/>
            <a:rect r="r" b="b" t="t" l="l"/>
            <a:pathLst>
              <a:path h="408142" w="408142">
                <a:moveTo>
                  <a:pt x="0" y="0"/>
                </a:moveTo>
                <a:lnTo>
                  <a:pt x="408142" y="0"/>
                </a:lnTo>
                <a:lnTo>
                  <a:pt x="408142" y="408142"/>
                </a:lnTo>
                <a:lnTo>
                  <a:pt x="0" y="408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618133" y="2702552"/>
            <a:ext cx="7206428" cy="662135"/>
          </a:xfrm>
          <a:prstGeom prst="rect">
            <a:avLst/>
          </a:prstGeom>
        </p:spPr>
        <p:txBody>
          <a:bodyPr anchor="t" rtlCol="false" tIns="0" lIns="0" bIns="0" rIns="0">
            <a:spAutoFit/>
          </a:bodyPr>
          <a:lstStyle/>
          <a:p>
            <a:pPr algn="l">
              <a:lnSpc>
                <a:spcPts val="2697"/>
              </a:lnSpc>
            </a:pPr>
            <a:r>
              <a:rPr lang="en-US" sz="1926">
                <a:solidFill>
                  <a:srgbClr val="737373"/>
                </a:solidFill>
                <a:latin typeface="Inter"/>
                <a:ea typeface="Inter"/>
                <a:cs typeface="Inter"/>
                <a:sym typeface="Inter"/>
              </a:rPr>
              <a:t>Removes room/staff values with no support in neighbouring exams; detects infeasibility before search</a:t>
            </a:r>
          </a:p>
        </p:txBody>
      </p:sp>
      <p:sp>
        <p:nvSpPr>
          <p:cNvPr name="TextBox 13" id="13"/>
          <p:cNvSpPr txBox="true"/>
          <p:nvPr/>
        </p:nvSpPr>
        <p:spPr>
          <a:xfrm rot="0">
            <a:off x="10553446" y="1765458"/>
            <a:ext cx="6608284" cy="2308225"/>
          </a:xfrm>
          <a:prstGeom prst="rect">
            <a:avLst/>
          </a:prstGeom>
        </p:spPr>
        <p:txBody>
          <a:bodyPr anchor="t" rtlCol="false" tIns="0" lIns="0" bIns="0" rIns="0">
            <a:spAutoFit/>
          </a:bodyPr>
          <a:lstStyle/>
          <a:p>
            <a:pPr algn="l">
              <a:lnSpc>
                <a:spcPts val="6049"/>
              </a:lnSpc>
            </a:pPr>
            <a:r>
              <a:rPr lang="en-US" sz="5499" b="true">
                <a:solidFill>
                  <a:srgbClr val="000000"/>
                </a:solidFill>
                <a:latin typeface="Cormorant Garamond Bold"/>
                <a:ea typeface="Cormorant Garamond Bold"/>
                <a:cs typeface="Cormorant Garamond Bold"/>
                <a:sym typeface="Cormorant Garamond Bold"/>
              </a:rPr>
              <a:t>Four algorithms, implemented from scratch</a:t>
            </a:r>
          </a:p>
        </p:txBody>
      </p:sp>
      <p:sp>
        <p:nvSpPr>
          <p:cNvPr name="TextBox 14" id="14"/>
          <p:cNvSpPr txBox="true"/>
          <p:nvPr/>
        </p:nvSpPr>
        <p:spPr>
          <a:xfrm rot="0">
            <a:off x="1616661" y="4326210"/>
            <a:ext cx="7619861" cy="662135"/>
          </a:xfrm>
          <a:prstGeom prst="rect">
            <a:avLst/>
          </a:prstGeom>
        </p:spPr>
        <p:txBody>
          <a:bodyPr anchor="t" rtlCol="false" tIns="0" lIns="0" bIns="0" rIns="0">
            <a:spAutoFit/>
          </a:bodyPr>
          <a:lstStyle/>
          <a:p>
            <a:pPr algn="l">
              <a:lnSpc>
                <a:spcPts val="2697"/>
              </a:lnSpc>
            </a:pPr>
            <a:r>
              <a:rPr lang="en-US" sz="1926">
                <a:solidFill>
                  <a:srgbClr val="737373"/>
                </a:solidFill>
                <a:latin typeface="Inter"/>
                <a:ea typeface="Inter"/>
                <a:cs typeface="Inter"/>
                <a:sym typeface="Inter"/>
              </a:rPr>
              <a:t>MRV picks the most constrained exam, degree breaks ties, LCV orders rooms, forward checking prunes after each assignment</a:t>
            </a:r>
          </a:p>
        </p:txBody>
      </p:sp>
      <p:sp>
        <p:nvSpPr>
          <p:cNvPr name="TextBox 15" id="15"/>
          <p:cNvSpPr txBox="true"/>
          <p:nvPr/>
        </p:nvSpPr>
        <p:spPr>
          <a:xfrm rot="0">
            <a:off x="10553446" y="4748404"/>
            <a:ext cx="6282881" cy="156400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Four textbook algorithms, each written in Python without a solver library. Backtracking is complete and builds the schedule from nothing; min-conflicts starts from the published schedule and converges in a few steps, which is exactly the repair case</a:t>
            </a:r>
          </a:p>
        </p:txBody>
      </p:sp>
      <p:sp>
        <p:nvSpPr>
          <p:cNvPr name="TextBox 16" id="16"/>
          <p:cNvSpPr txBox="true"/>
          <p:nvPr/>
        </p:nvSpPr>
        <p:spPr>
          <a:xfrm rot="0">
            <a:off x="2311499" y="2076628"/>
            <a:ext cx="3313277" cy="358235"/>
          </a:xfrm>
          <a:prstGeom prst="rect">
            <a:avLst/>
          </a:prstGeom>
        </p:spPr>
        <p:txBody>
          <a:bodyPr anchor="t" rtlCol="false" tIns="0" lIns="0" bIns="0" rIns="0">
            <a:spAutoFit/>
          </a:bodyPr>
          <a:lstStyle/>
          <a:p>
            <a:pPr algn="l">
              <a:lnSpc>
                <a:spcPts val="2708"/>
              </a:lnSpc>
            </a:pPr>
            <a:r>
              <a:rPr lang="en-US" sz="2462">
                <a:solidFill>
                  <a:srgbClr val="000000"/>
                </a:solidFill>
                <a:latin typeface="Inter"/>
                <a:ea typeface="Inter"/>
                <a:cs typeface="Inter"/>
                <a:sym typeface="Inter"/>
              </a:rPr>
              <a:t>AC-3</a:t>
            </a:r>
          </a:p>
        </p:txBody>
      </p:sp>
      <p:sp>
        <p:nvSpPr>
          <p:cNvPr name="TextBox 17" id="17"/>
          <p:cNvSpPr txBox="true"/>
          <p:nvPr/>
        </p:nvSpPr>
        <p:spPr>
          <a:xfrm rot="0">
            <a:off x="2310026" y="3700286"/>
            <a:ext cx="3864163" cy="358235"/>
          </a:xfrm>
          <a:prstGeom prst="rect">
            <a:avLst/>
          </a:prstGeom>
        </p:spPr>
        <p:txBody>
          <a:bodyPr anchor="t" rtlCol="false" tIns="0" lIns="0" bIns="0" rIns="0">
            <a:spAutoFit/>
          </a:bodyPr>
          <a:lstStyle/>
          <a:p>
            <a:pPr algn="l">
              <a:lnSpc>
                <a:spcPts val="2708"/>
              </a:lnSpc>
            </a:pPr>
            <a:r>
              <a:rPr lang="en-US" sz="2462">
                <a:solidFill>
                  <a:srgbClr val="000000"/>
                </a:solidFill>
                <a:latin typeface="Inter"/>
                <a:ea typeface="Inter"/>
                <a:cs typeface="Inter"/>
                <a:sym typeface="Inter"/>
              </a:rPr>
              <a:t>Backtracking + heuristics</a:t>
            </a:r>
          </a:p>
        </p:txBody>
      </p:sp>
      <p:sp>
        <p:nvSpPr>
          <p:cNvPr name="TextBox 18" id="18"/>
          <p:cNvSpPr txBox="true"/>
          <p:nvPr/>
        </p:nvSpPr>
        <p:spPr>
          <a:xfrm rot="0">
            <a:off x="14744097" y="696753"/>
            <a:ext cx="2171801" cy="306705"/>
          </a:xfrm>
          <a:prstGeom prst="rect">
            <a:avLst/>
          </a:prstGeom>
        </p:spPr>
        <p:txBody>
          <a:bodyPr anchor="t" rtlCol="false" tIns="0" lIns="0" bIns="0" rIns="0">
            <a:spAutoFit/>
          </a:bodyPr>
          <a:lstStyle/>
          <a:p>
            <a:pPr algn="r">
              <a:lnSpc>
                <a:spcPts val="2520"/>
              </a:lnSpc>
            </a:pPr>
            <a:r>
              <a:rPr lang="en-US" sz="1800">
                <a:solidFill>
                  <a:srgbClr val="363336"/>
                </a:solidFill>
                <a:latin typeface="Inter"/>
                <a:ea typeface="Inter"/>
                <a:cs typeface="Inter"/>
                <a:sym typeface="Inter"/>
              </a:rPr>
              <a:t>Algorithm </a:t>
            </a:r>
          </a:p>
        </p:txBody>
      </p:sp>
      <p:sp>
        <p:nvSpPr>
          <p:cNvPr name="TextBox 19" id="19"/>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sp>
        <p:nvSpPr>
          <p:cNvPr name="TextBox 20" id="20"/>
          <p:cNvSpPr txBox="true"/>
          <p:nvPr/>
        </p:nvSpPr>
        <p:spPr>
          <a:xfrm rot="0">
            <a:off x="10548759" y="8277824"/>
            <a:ext cx="7117927" cy="1166494"/>
          </a:xfrm>
          <a:prstGeom prst="rect">
            <a:avLst/>
          </a:prstGeom>
        </p:spPr>
        <p:txBody>
          <a:bodyPr anchor="t" rtlCol="false" tIns="0" lIns="0" bIns="0" rIns="0">
            <a:spAutoFit/>
          </a:bodyPr>
          <a:lstStyle/>
          <a:p>
            <a:pPr algn="l">
              <a:lnSpc>
                <a:spcPts val="2380"/>
              </a:lnSpc>
            </a:pPr>
            <a:r>
              <a:rPr lang="en-US" sz="1700">
                <a:solidFill>
                  <a:srgbClr val="FFFFFF"/>
                </a:solidFill>
                <a:latin typeface="Inter"/>
                <a:ea typeface="Inter"/>
                <a:cs typeface="Inter"/>
                <a:sym typeface="Inter"/>
              </a:rPr>
              <a:t>  BACKTRACK(A): X ← MRV variable; for v in LCV order:</a:t>
            </a:r>
          </a:p>
          <a:p>
            <a:pPr algn="l">
              <a:lnSpc>
                <a:spcPts val="2380"/>
              </a:lnSpc>
            </a:pPr>
            <a:r>
              <a:rPr lang="en-US" sz="1700">
                <a:solidFill>
                  <a:srgbClr val="FFFFFF"/>
                </a:solidFill>
                <a:latin typeface="Inter"/>
                <a:ea typeface="Inter"/>
                <a:cs typeface="Inter"/>
                <a:sym typeface="Inter"/>
              </a:rPr>
              <a:t>     if consistent(H1..H7): assign, forward-check, recurse; undo</a:t>
            </a:r>
          </a:p>
          <a:p>
            <a:pPr algn="l">
              <a:lnSpc>
                <a:spcPts val="2380"/>
              </a:lnSpc>
            </a:pPr>
            <a:r>
              <a:rPr lang="en-US" sz="1700">
                <a:solidFill>
                  <a:srgbClr val="FFFFFF"/>
                </a:solidFill>
                <a:latin typeface="Inter"/>
                <a:ea typeface="Inter"/>
                <a:cs typeface="Inter"/>
                <a:sym typeface="Inter"/>
              </a:rPr>
              <a:t>  MIN-CONFLICTS(published, incident): release affected vars;</a:t>
            </a:r>
          </a:p>
          <a:p>
            <a:pPr algn="l">
              <a:lnSpc>
                <a:spcPts val="2380"/>
              </a:lnSpc>
            </a:pPr>
            <a:r>
              <a:rPr lang="en-US" sz="1700">
                <a:solidFill>
                  <a:srgbClr val="FFFFFF"/>
                </a:solidFill>
                <a:latin typeface="Inter"/>
                <a:ea typeface="Inter"/>
                <a:cs typeface="Inter"/>
                <a:sym typeface="Inter"/>
              </a:rPr>
              <a:t>     repeat: X ← conflicted var; X ← argmin conflicts + λ·[changed]</a:t>
            </a:r>
          </a:p>
        </p:txBody>
      </p:sp>
      <p:sp>
        <p:nvSpPr>
          <p:cNvPr name="TextBox 21" id="21"/>
          <p:cNvSpPr txBox="true"/>
          <p:nvPr/>
        </p:nvSpPr>
        <p:spPr>
          <a:xfrm rot="0">
            <a:off x="10611468" y="7336941"/>
            <a:ext cx="3095025" cy="324485"/>
          </a:xfrm>
          <a:prstGeom prst="rect">
            <a:avLst/>
          </a:prstGeom>
        </p:spPr>
        <p:txBody>
          <a:bodyPr anchor="t" rtlCol="false" tIns="0" lIns="0" bIns="0" rIns="0">
            <a:spAutoFit/>
          </a:bodyPr>
          <a:lstStyle/>
          <a:p>
            <a:pPr algn="l">
              <a:lnSpc>
                <a:spcPts val="2530"/>
              </a:lnSpc>
            </a:pPr>
            <a:r>
              <a:rPr lang="en-US" sz="2300">
                <a:solidFill>
                  <a:srgbClr val="FFFFFF"/>
                </a:solidFill>
                <a:latin typeface="Inter"/>
                <a:ea typeface="Inter"/>
                <a:cs typeface="Inter"/>
                <a:sym typeface="Inter"/>
              </a:rPr>
              <a:t>Pseudo Code:</a:t>
            </a:r>
          </a:p>
        </p:txBody>
      </p:sp>
      <p:sp>
        <p:nvSpPr>
          <p:cNvPr name="TextBox 22" id="22"/>
          <p:cNvSpPr txBox="true"/>
          <p:nvPr/>
        </p:nvSpPr>
        <p:spPr>
          <a:xfrm rot="0">
            <a:off x="1616661" y="6197204"/>
            <a:ext cx="7619861" cy="998626"/>
          </a:xfrm>
          <a:prstGeom prst="rect">
            <a:avLst/>
          </a:prstGeom>
        </p:spPr>
        <p:txBody>
          <a:bodyPr anchor="t" rtlCol="false" tIns="0" lIns="0" bIns="0" rIns="0">
            <a:spAutoFit/>
          </a:bodyPr>
          <a:lstStyle/>
          <a:p>
            <a:pPr algn="l">
              <a:lnSpc>
                <a:spcPts val="2697"/>
              </a:lnSpc>
            </a:pPr>
            <a:r>
              <a:rPr lang="en-US" sz="1926">
                <a:solidFill>
                  <a:srgbClr val="737373"/>
                </a:solidFill>
                <a:latin typeface="Inter"/>
                <a:ea typeface="Inter"/>
                <a:cs typeface="Inter"/>
                <a:sym typeface="Inter"/>
              </a:rPr>
              <a:t>Starts from the published schedule; change penalty λ keeps unaffected assignments fixed; falls back to backtracking on affected variables</a:t>
            </a:r>
          </a:p>
        </p:txBody>
      </p:sp>
      <p:sp>
        <p:nvSpPr>
          <p:cNvPr name="TextBox 23" id="23"/>
          <p:cNvSpPr txBox="true"/>
          <p:nvPr/>
        </p:nvSpPr>
        <p:spPr>
          <a:xfrm rot="0">
            <a:off x="2310026" y="5571280"/>
            <a:ext cx="3116565" cy="358235"/>
          </a:xfrm>
          <a:prstGeom prst="rect">
            <a:avLst/>
          </a:prstGeom>
        </p:spPr>
        <p:txBody>
          <a:bodyPr anchor="t" rtlCol="false" tIns="0" lIns="0" bIns="0" rIns="0">
            <a:spAutoFit/>
          </a:bodyPr>
          <a:lstStyle/>
          <a:p>
            <a:pPr algn="l">
              <a:lnSpc>
                <a:spcPts val="2708"/>
              </a:lnSpc>
            </a:pPr>
            <a:r>
              <a:rPr lang="en-US" sz="2462">
                <a:solidFill>
                  <a:srgbClr val="000000"/>
                </a:solidFill>
                <a:latin typeface="Inter"/>
                <a:ea typeface="Inter"/>
                <a:cs typeface="Inter"/>
                <a:sym typeface="Inter"/>
              </a:rPr>
              <a:t>Min-conflicts repair</a:t>
            </a:r>
          </a:p>
        </p:txBody>
      </p:sp>
      <p:sp>
        <p:nvSpPr>
          <p:cNvPr name="Freeform 24" id="24"/>
          <p:cNvSpPr/>
          <p:nvPr/>
        </p:nvSpPr>
        <p:spPr>
          <a:xfrm flipH="false" flipV="false" rot="0">
            <a:off x="1616661" y="7766843"/>
            <a:ext cx="408142" cy="408142"/>
          </a:xfrm>
          <a:custGeom>
            <a:avLst/>
            <a:gdLst/>
            <a:ahLst/>
            <a:cxnLst/>
            <a:rect r="r" b="b" t="t" l="l"/>
            <a:pathLst>
              <a:path h="408142" w="408142">
                <a:moveTo>
                  <a:pt x="0" y="0"/>
                </a:moveTo>
                <a:lnTo>
                  <a:pt x="408142" y="0"/>
                </a:lnTo>
                <a:lnTo>
                  <a:pt x="408142" y="408142"/>
                </a:lnTo>
                <a:lnTo>
                  <a:pt x="0" y="408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5" id="25"/>
          <p:cNvSpPr txBox="true"/>
          <p:nvPr/>
        </p:nvSpPr>
        <p:spPr>
          <a:xfrm rot="0">
            <a:off x="1616661" y="8422465"/>
            <a:ext cx="7619861" cy="662135"/>
          </a:xfrm>
          <a:prstGeom prst="rect">
            <a:avLst/>
          </a:prstGeom>
        </p:spPr>
        <p:txBody>
          <a:bodyPr anchor="t" rtlCol="false" tIns="0" lIns="0" bIns="0" rIns="0">
            <a:spAutoFit/>
          </a:bodyPr>
          <a:lstStyle/>
          <a:p>
            <a:pPr algn="l">
              <a:lnSpc>
                <a:spcPts val="2697"/>
              </a:lnSpc>
            </a:pPr>
            <a:r>
              <a:rPr lang="en-US" sz="1926">
                <a:solidFill>
                  <a:srgbClr val="737373"/>
                </a:solidFill>
                <a:latin typeface="Inter"/>
                <a:ea typeface="Inter"/>
                <a:cs typeface="Inter"/>
                <a:sym typeface="Inter"/>
              </a:rPr>
              <a:t>Swaps assignments to lower soft cost (fairness, proximity) while keeping hard feasibility.</a:t>
            </a:r>
          </a:p>
        </p:txBody>
      </p:sp>
      <p:sp>
        <p:nvSpPr>
          <p:cNvPr name="TextBox 26" id="26"/>
          <p:cNvSpPr txBox="true"/>
          <p:nvPr/>
        </p:nvSpPr>
        <p:spPr>
          <a:xfrm rot="0">
            <a:off x="2310026" y="7796541"/>
            <a:ext cx="3116565" cy="358235"/>
          </a:xfrm>
          <a:prstGeom prst="rect">
            <a:avLst/>
          </a:prstGeom>
        </p:spPr>
        <p:txBody>
          <a:bodyPr anchor="t" rtlCol="false" tIns="0" lIns="0" bIns="0" rIns="0">
            <a:spAutoFit/>
          </a:bodyPr>
          <a:lstStyle/>
          <a:p>
            <a:pPr algn="l">
              <a:lnSpc>
                <a:spcPts val="2708"/>
              </a:lnSpc>
            </a:pPr>
            <a:r>
              <a:rPr lang="en-US" sz="2462">
                <a:solidFill>
                  <a:srgbClr val="000000"/>
                </a:solidFill>
                <a:latin typeface="Inter"/>
                <a:ea typeface="Inter"/>
                <a:cs typeface="Inter"/>
                <a:sym typeface="Inter"/>
              </a:rPr>
              <a:t>Hill climbing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a:off x="1970380" y="2623766"/>
            <a:ext cx="2126908" cy="0"/>
          </a:xfrm>
          <a:prstGeom prst="line">
            <a:avLst/>
          </a:prstGeom>
          <a:ln cap="flat" w="38100">
            <a:solidFill>
              <a:srgbClr val="90816A"/>
            </a:solidFill>
            <a:prstDash val="solid"/>
            <a:headEnd type="none" len="sm" w="sm"/>
            <a:tailEnd type="none" len="sm" w="sm"/>
          </a:ln>
        </p:spPr>
      </p:sp>
      <p:grpSp>
        <p:nvGrpSpPr>
          <p:cNvPr name="Group 4" id="4"/>
          <p:cNvGrpSpPr/>
          <p:nvPr/>
        </p:nvGrpSpPr>
        <p:grpSpPr>
          <a:xfrm rot="0">
            <a:off x="10801193" y="2271838"/>
            <a:ext cx="5656716" cy="1959361"/>
            <a:chOff x="0" y="0"/>
            <a:chExt cx="1489835" cy="516046"/>
          </a:xfrm>
        </p:grpSpPr>
        <p:sp>
          <p:nvSpPr>
            <p:cNvPr name="Freeform 5" id="5"/>
            <p:cNvSpPr/>
            <p:nvPr/>
          </p:nvSpPr>
          <p:spPr>
            <a:xfrm flipH="false" flipV="false" rot="0">
              <a:off x="0" y="0"/>
              <a:ext cx="1489835" cy="516046"/>
            </a:xfrm>
            <a:custGeom>
              <a:avLst/>
              <a:gdLst/>
              <a:ahLst/>
              <a:cxnLst/>
              <a:rect r="r" b="b" t="t" l="l"/>
              <a:pathLst>
                <a:path h="516046" w="1489835">
                  <a:moveTo>
                    <a:pt x="50639" y="0"/>
                  </a:moveTo>
                  <a:lnTo>
                    <a:pt x="1439196" y="0"/>
                  </a:lnTo>
                  <a:cubicBezTo>
                    <a:pt x="1452626" y="0"/>
                    <a:pt x="1465506" y="5335"/>
                    <a:pt x="1475003" y="14832"/>
                  </a:cubicBezTo>
                  <a:cubicBezTo>
                    <a:pt x="1484500" y="24329"/>
                    <a:pt x="1489835" y="37209"/>
                    <a:pt x="1489835" y="50639"/>
                  </a:cubicBezTo>
                  <a:lnTo>
                    <a:pt x="1489835" y="465407"/>
                  </a:lnTo>
                  <a:cubicBezTo>
                    <a:pt x="1489835" y="478837"/>
                    <a:pt x="1484500" y="491717"/>
                    <a:pt x="1475003" y="501214"/>
                  </a:cubicBezTo>
                  <a:cubicBezTo>
                    <a:pt x="1465506" y="510711"/>
                    <a:pt x="1452626" y="516046"/>
                    <a:pt x="1439196" y="516046"/>
                  </a:cubicBezTo>
                  <a:lnTo>
                    <a:pt x="50639" y="516046"/>
                  </a:lnTo>
                  <a:cubicBezTo>
                    <a:pt x="37209" y="516046"/>
                    <a:pt x="24329" y="510711"/>
                    <a:pt x="14832" y="501214"/>
                  </a:cubicBezTo>
                  <a:cubicBezTo>
                    <a:pt x="5335" y="491717"/>
                    <a:pt x="0" y="478837"/>
                    <a:pt x="0" y="465407"/>
                  </a:cubicBezTo>
                  <a:lnTo>
                    <a:pt x="0" y="50639"/>
                  </a:lnTo>
                  <a:cubicBezTo>
                    <a:pt x="0" y="37209"/>
                    <a:pt x="5335" y="24329"/>
                    <a:pt x="14832" y="14832"/>
                  </a:cubicBezTo>
                  <a:cubicBezTo>
                    <a:pt x="24329" y="5335"/>
                    <a:pt x="37209" y="0"/>
                    <a:pt x="50639" y="0"/>
                  </a:cubicBezTo>
                  <a:close/>
                </a:path>
              </a:pathLst>
            </a:custGeom>
            <a:ln w="19050" cap="rnd">
              <a:solidFill>
                <a:srgbClr val="363336"/>
              </a:solidFill>
              <a:prstDash val="solid"/>
              <a:round/>
            </a:ln>
          </p:spPr>
        </p:sp>
        <p:sp>
          <p:nvSpPr>
            <p:cNvPr name="TextBox 6" id="6"/>
            <p:cNvSpPr txBox="true"/>
            <p:nvPr/>
          </p:nvSpPr>
          <p:spPr>
            <a:xfrm>
              <a:off x="0" y="19050"/>
              <a:ext cx="1489835" cy="496996"/>
            </a:xfrm>
            <a:prstGeom prst="rect">
              <a:avLst/>
            </a:prstGeom>
          </p:spPr>
          <p:txBody>
            <a:bodyPr anchor="ctr" rtlCol="false" tIns="50800" lIns="50800" bIns="50800" rIns="50800"/>
            <a:lstStyle/>
            <a:p>
              <a:pPr algn="ctr">
                <a:lnSpc>
                  <a:spcPts val="2530"/>
                </a:lnSpc>
              </a:pPr>
            </a:p>
          </p:txBody>
        </p:sp>
      </p:grpSp>
      <p:grpSp>
        <p:nvGrpSpPr>
          <p:cNvPr name="Group 7" id="7"/>
          <p:cNvGrpSpPr/>
          <p:nvPr/>
        </p:nvGrpSpPr>
        <p:grpSpPr>
          <a:xfrm rot="0">
            <a:off x="10801193" y="4821238"/>
            <a:ext cx="5769296" cy="1959361"/>
            <a:chOff x="0" y="0"/>
            <a:chExt cx="1519485" cy="516046"/>
          </a:xfrm>
        </p:grpSpPr>
        <p:sp>
          <p:nvSpPr>
            <p:cNvPr name="Freeform 8" id="8"/>
            <p:cNvSpPr/>
            <p:nvPr/>
          </p:nvSpPr>
          <p:spPr>
            <a:xfrm flipH="false" flipV="false" rot="0">
              <a:off x="0" y="0"/>
              <a:ext cx="1519485" cy="516046"/>
            </a:xfrm>
            <a:custGeom>
              <a:avLst/>
              <a:gdLst/>
              <a:ahLst/>
              <a:cxnLst/>
              <a:rect r="r" b="b" t="t" l="l"/>
              <a:pathLst>
                <a:path h="516046" w="1519485">
                  <a:moveTo>
                    <a:pt x="49651" y="0"/>
                  </a:moveTo>
                  <a:lnTo>
                    <a:pt x="1469835" y="0"/>
                  </a:lnTo>
                  <a:cubicBezTo>
                    <a:pt x="1497256" y="0"/>
                    <a:pt x="1519485" y="22229"/>
                    <a:pt x="1519485" y="49651"/>
                  </a:cubicBezTo>
                  <a:lnTo>
                    <a:pt x="1519485" y="466395"/>
                  </a:lnTo>
                  <a:cubicBezTo>
                    <a:pt x="1519485" y="479563"/>
                    <a:pt x="1514254" y="492192"/>
                    <a:pt x="1504943" y="501503"/>
                  </a:cubicBezTo>
                  <a:cubicBezTo>
                    <a:pt x="1495632" y="510815"/>
                    <a:pt x="1483003" y="516046"/>
                    <a:pt x="1469835" y="516046"/>
                  </a:cubicBezTo>
                  <a:lnTo>
                    <a:pt x="49651" y="516046"/>
                  </a:lnTo>
                  <a:cubicBezTo>
                    <a:pt x="22229" y="516046"/>
                    <a:pt x="0" y="493816"/>
                    <a:pt x="0" y="466395"/>
                  </a:cubicBezTo>
                  <a:lnTo>
                    <a:pt x="0" y="49651"/>
                  </a:lnTo>
                  <a:cubicBezTo>
                    <a:pt x="0" y="36483"/>
                    <a:pt x="5231" y="23854"/>
                    <a:pt x="14542" y="14542"/>
                  </a:cubicBezTo>
                  <a:cubicBezTo>
                    <a:pt x="23854" y="5231"/>
                    <a:pt x="36483" y="0"/>
                    <a:pt x="49651" y="0"/>
                  </a:cubicBezTo>
                  <a:close/>
                </a:path>
              </a:pathLst>
            </a:custGeom>
            <a:ln w="19050" cap="rnd">
              <a:solidFill>
                <a:srgbClr val="363336"/>
              </a:solidFill>
              <a:prstDash val="solid"/>
              <a:round/>
            </a:ln>
          </p:spPr>
        </p:sp>
        <p:sp>
          <p:nvSpPr>
            <p:cNvPr name="TextBox 9" id="9"/>
            <p:cNvSpPr txBox="true"/>
            <p:nvPr/>
          </p:nvSpPr>
          <p:spPr>
            <a:xfrm>
              <a:off x="0" y="19050"/>
              <a:ext cx="1519485" cy="496996"/>
            </a:xfrm>
            <a:prstGeom prst="rect">
              <a:avLst/>
            </a:prstGeom>
          </p:spPr>
          <p:txBody>
            <a:bodyPr anchor="ctr" rtlCol="false" tIns="50800" lIns="50800" bIns="50800" rIns="50800"/>
            <a:lstStyle/>
            <a:p>
              <a:pPr algn="ctr">
                <a:lnSpc>
                  <a:spcPts val="2530"/>
                </a:lnSpc>
              </a:pPr>
            </a:p>
          </p:txBody>
        </p:sp>
      </p:grpSp>
      <p:grpSp>
        <p:nvGrpSpPr>
          <p:cNvPr name="Group 10" id="10"/>
          <p:cNvGrpSpPr/>
          <p:nvPr/>
        </p:nvGrpSpPr>
        <p:grpSpPr>
          <a:xfrm rot="0">
            <a:off x="10801193" y="7371149"/>
            <a:ext cx="5656716" cy="1959361"/>
            <a:chOff x="0" y="0"/>
            <a:chExt cx="1489835" cy="516046"/>
          </a:xfrm>
        </p:grpSpPr>
        <p:sp>
          <p:nvSpPr>
            <p:cNvPr name="Freeform 11" id="11"/>
            <p:cNvSpPr/>
            <p:nvPr/>
          </p:nvSpPr>
          <p:spPr>
            <a:xfrm flipH="false" flipV="false" rot="0">
              <a:off x="0" y="0"/>
              <a:ext cx="1489835" cy="516046"/>
            </a:xfrm>
            <a:custGeom>
              <a:avLst/>
              <a:gdLst/>
              <a:ahLst/>
              <a:cxnLst/>
              <a:rect r="r" b="b" t="t" l="l"/>
              <a:pathLst>
                <a:path h="516046" w="1489835">
                  <a:moveTo>
                    <a:pt x="50639" y="0"/>
                  </a:moveTo>
                  <a:lnTo>
                    <a:pt x="1439196" y="0"/>
                  </a:lnTo>
                  <a:cubicBezTo>
                    <a:pt x="1452626" y="0"/>
                    <a:pt x="1465506" y="5335"/>
                    <a:pt x="1475003" y="14832"/>
                  </a:cubicBezTo>
                  <a:cubicBezTo>
                    <a:pt x="1484500" y="24329"/>
                    <a:pt x="1489835" y="37209"/>
                    <a:pt x="1489835" y="50639"/>
                  </a:cubicBezTo>
                  <a:lnTo>
                    <a:pt x="1489835" y="465407"/>
                  </a:lnTo>
                  <a:cubicBezTo>
                    <a:pt x="1489835" y="478837"/>
                    <a:pt x="1484500" y="491717"/>
                    <a:pt x="1475003" y="501214"/>
                  </a:cubicBezTo>
                  <a:cubicBezTo>
                    <a:pt x="1465506" y="510711"/>
                    <a:pt x="1452626" y="516046"/>
                    <a:pt x="1439196" y="516046"/>
                  </a:cubicBezTo>
                  <a:lnTo>
                    <a:pt x="50639" y="516046"/>
                  </a:lnTo>
                  <a:cubicBezTo>
                    <a:pt x="37209" y="516046"/>
                    <a:pt x="24329" y="510711"/>
                    <a:pt x="14832" y="501214"/>
                  </a:cubicBezTo>
                  <a:cubicBezTo>
                    <a:pt x="5335" y="491717"/>
                    <a:pt x="0" y="478837"/>
                    <a:pt x="0" y="465407"/>
                  </a:cubicBezTo>
                  <a:lnTo>
                    <a:pt x="0" y="50639"/>
                  </a:lnTo>
                  <a:cubicBezTo>
                    <a:pt x="0" y="37209"/>
                    <a:pt x="5335" y="24329"/>
                    <a:pt x="14832" y="14832"/>
                  </a:cubicBezTo>
                  <a:cubicBezTo>
                    <a:pt x="24329" y="5335"/>
                    <a:pt x="37209" y="0"/>
                    <a:pt x="50639" y="0"/>
                  </a:cubicBezTo>
                  <a:close/>
                </a:path>
              </a:pathLst>
            </a:custGeom>
            <a:ln w="19050" cap="rnd">
              <a:solidFill>
                <a:srgbClr val="363336"/>
              </a:solidFill>
              <a:prstDash val="solid"/>
              <a:round/>
            </a:ln>
          </p:spPr>
        </p:sp>
        <p:sp>
          <p:nvSpPr>
            <p:cNvPr name="TextBox 12" id="12"/>
            <p:cNvSpPr txBox="true"/>
            <p:nvPr/>
          </p:nvSpPr>
          <p:spPr>
            <a:xfrm>
              <a:off x="0" y="19050"/>
              <a:ext cx="1489835" cy="496996"/>
            </a:xfrm>
            <a:prstGeom prst="rect">
              <a:avLst/>
            </a:prstGeom>
          </p:spPr>
          <p:txBody>
            <a:bodyPr anchor="ctr" rtlCol="false" tIns="50800" lIns="50800" bIns="50800" rIns="50800"/>
            <a:lstStyle/>
            <a:p>
              <a:pPr algn="ctr">
                <a:lnSpc>
                  <a:spcPts val="2530"/>
                </a:lnSpc>
              </a:pPr>
            </a:p>
          </p:txBody>
        </p:sp>
      </p:grpSp>
      <p:sp>
        <p:nvSpPr>
          <p:cNvPr name="Freeform 13" id="13"/>
          <p:cNvSpPr/>
          <p:nvPr/>
        </p:nvSpPr>
        <p:spPr>
          <a:xfrm flipH="false" flipV="false" rot="0">
            <a:off x="11152430" y="2623766"/>
            <a:ext cx="381257" cy="381257"/>
          </a:xfrm>
          <a:custGeom>
            <a:avLst/>
            <a:gdLst/>
            <a:ahLst/>
            <a:cxnLst/>
            <a:rect r="r" b="b" t="t" l="l"/>
            <a:pathLst>
              <a:path h="381257" w="381257">
                <a:moveTo>
                  <a:pt x="0" y="0"/>
                </a:moveTo>
                <a:lnTo>
                  <a:pt x="381257" y="0"/>
                </a:lnTo>
                <a:lnTo>
                  <a:pt x="381257"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1152430" y="4997458"/>
            <a:ext cx="381257" cy="381257"/>
          </a:xfrm>
          <a:custGeom>
            <a:avLst/>
            <a:gdLst/>
            <a:ahLst/>
            <a:cxnLst/>
            <a:rect r="r" b="b" t="t" l="l"/>
            <a:pathLst>
              <a:path h="381257" w="381257">
                <a:moveTo>
                  <a:pt x="0" y="0"/>
                </a:moveTo>
                <a:lnTo>
                  <a:pt x="381257" y="0"/>
                </a:lnTo>
                <a:lnTo>
                  <a:pt x="381257"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11091189" y="7542599"/>
            <a:ext cx="381257" cy="381257"/>
          </a:xfrm>
          <a:custGeom>
            <a:avLst/>
            <a:gdLst/>
            <a:ahLst/>
            <a:cxnLst/>
            <a:rect r="r" b="b" t="t" l="l"/>
            <a:pathLst>
              <a:path h="381257" w="381257">
                <a:moveTo>
                  <a:pt x="0" y="0"/>
                </a:moveTo>
                <a:lnTo>
                  <a:pt x="381256" y="0"/>
                </a:lnTo>
                <a:lnTo>
                  <a:pt x="381256"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10800000">
            <a:off x="15437788" y="9450111"/>
            <a:ext cx="3115252" cy="543753"/>
          </a:xfrm>
          <a:custGeom>
            <a:avLst/>
            <a:gdLst/>
            <a:ahLst/>
            <a:cxnLst/>
            <a:rect r="r" b="b" t="t" l="l"/>
            <a:pathLst>
              <a:path h="543753" w="3115252">
                <a:moveTo>
                  <a:pt x="0" y="0"/>
                </a:moveTo>
                <a:lnTo>
                  <a:pt x="3115253" y="0"/>
                </a:lnTo>
                <a:lnTo>
                  <a:pt x="3115253"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1854891" y="1683966"/>
            <a:ext cx="6149269"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Stack and status</a:t>
            </a:r>
          </a:p>
        </p:txBody>
      </p:sp>
      <p:sp>
        <p:nvSpPr>
          <p:cNvPr name="TextBox 20" id="20"/>
          <p:cNvSpPr txBox="true"/>
          <p:nvPr/>
        </p:nvSpPr>
        <p:spPr>
          <a:xfrm rot="0">
            <a:off x="11790051" y="2670980"/>
            <a:ext cx="3329154" cy="292100"/>
          </a:xfrm>
          <a:prstGeom prst="rect">
            <a:avLst/>
          </a:prstGeom>
        </p:spPr>
        <p:txBody>
          <a:bodyPr anchor="t" rtlCol="false" tIns="0" lIns="0" bIns="0" rIns="0">
            <a:spAutoFit/>
          </a:bodyPr>
          <a:lstStyle/>
          <a:p>
            <a:pPr algn="l">
              <a:lnSpc>
                <a:spcPts val="2200"/>
              </a:lnSpc>
            </a:pPr>
            <a:r>
              <a:rPr lang="en-US" sz="2000">
                <a:solidFill>
                  <a:srgbClr val="000000"/>
                </a:solidFill>
                <a:latin typeface="Inter"/>
                <a:ea typeface="Inter"/>
                <a:cs typeface="Inter"/>
                <a:sym typeface="Inter"/>
              </a:rPr>
              <a:t>Backend </a:t>
            </a:r>
          </a:p>
        </p:txBody>
      </p:sp>
      <p:sp>
        <p:nvSpPr>
          <p:cNvPr name="TextBox 21" id="21"/>
          <p:cNvSpPr txBox="true"/>
          <p:nvPr/>
        </p:nvSpPr>
        <p:spPr>
          <a:xfrm rot="0">
            <a:off x="11790862" y="5054196"/>
            <a:ext cx="3115320" cy="32448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Frontend and auth</a:t>
            </a:r>
          </a:p>
        </p:txBody>
      </p:sp>
      <p:sp>
        <p:nvSpPr>
          <p:cNvPr name="TextBox 22" id="22"/>
          <p:cNvSpPr txBox="true"/>
          <p:nvPr/>
        </p:nvSpPr>
        <p:spPr>
          <a:xfrm rot="0">
            <a:off x="11729620" y="7599338"/>
            <a:ext cx="3389585" cy="324485"/>
          </a:xfrm>
          <a:prstGeom prst="rect">
            <a:avLst/>
          </a:prstGeom>
        </p:spPr>
        <p:txBody>
          <a:bodyPr anchor="t" rtlCol="false" tIns="0" lIns="0" bIns="0" rIns="0">
            <a:spAutoFit/>
          </a:bodyPr>
          <a:lstStyle/>
          <a:p>
            <a:pPr algn="l">
              <a:lnSpc>
                <a:spcPts val="2530"/>
              </a:lnSpc>
            </a:pPr>
            <a:r>
              <a:rPr lang="en-US" sz="2300">
                <a:solidFill>
                  <a:srgbClr val="000000"/>
                </a:solidFill>
                <a:latin typeface="Inter"/>
                <a:ea typeface="Inter"/>
                <a:cs typeface="Inter"/>
                <a:sym typeface="Inter"/>
              </a:rPr>
              <a:t>Data and tests</a:t>
            </a:r>
          </a:p>
        </p:txBody>
      </p:sp>
      <p:sp>
        <p:nvSpPr>
          <p:cNvPr name="TextBox 23" id="23"/>
          <p:cNvSpPr txBox="true"/>
          <p:nvPr/>
        </p:nvSpPr>
        <p:spPr>
          <a:xfrm rot="0">
            <a:off x="11152430" y="3213419"/>
            <a:ext cx="4043087" cy="621029"/>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Python 3.12, FastAPI, PostgreSQL with versioned allocations</a:t>
            </a:r>
          </a:p>
        </p:txBody>
      </p:sp>
      <p:sp>
        <p:nvSpPr>
          <p:cNvPr name="TextBox 24" id="24"/>
          <p:cNvSpPr txBox="true"/>
          <p:nvPr/>
        </p:nvSpPr>
        <p:spPr>
          <a:xfrm rot="0">
            <a:off x="11152430" y="5612324"/>
            <a:ext cx="4838774" cy="93535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React, college-domain login (roster now, Google OAuth later), e-mail and ICS notifications</a:t>
            </a:r>
          </a:p>
        </p:txBody>
      </p:sp>
      <p:sp>
        <p:nvSpPr>
          <p:cNvPr name="TextBox 25" id="25"/>
          <p:cNvSpPr txBox="true"/>
          <p:nvPr/>
        </p:nvSpPr>
        <p:spPr>
          <a:xfrm rot="0">
            <a:off x="11152430" y="8161724"/>
            <a:ext cx="4898815" cy="935354"/>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Synthetic generator (40 exams, 25 rooms, 80 faculty, 12 slots); pytest, scenario tests, validator property tests</a:t>
            </a:r>
          </a:p>
        </p:txBody>
      </p:sp>
      <p:sp>
        <p:nvSpPr>
          <p:cNvPr name="TextBox 26" id="26"/>
          <p:cNvSpPr txBox="true"/>
          <p:nvPr/>
        </p:nvSpPr>
        <p:spPr>
          <a:xfrm rot="0">
            <a:off x="1378430" y="2954742"/>
            <a:ext cx="5002826" cy="1249679"/>
          </a:xfrm>
          <a:prstGeom prst="rect">
            <a:avLst/>
          </a:prstGeom>
        </p:spPr>
        <p:txBody>
          <a:bodyPr anchor="t" rtlCol="false" tIns="0" lIns="0" bIns="0" rIns="0">
            <a:spAutoFit/>
          </a:bodyPr>
          <a:lstStyle/>
          <a:p>
            <a:pPr algn="l">
              <a:lnSpc>
                <a:spcPts val="2520"/>
              </a:lnSpc>
            </a:pPr>
            <a:r>
              <a:rPr lang="en-US" sz="1800">
                <a:solidFill>
                  <a:srgbClr val="737373"/>
                </a:solidFill>
                <a:latin typeface="Inter"/>
                <a:ea typeface="Inter"/>
                <a:cs typeface="Inter"/>
                <a:sym typeface="Inter"/>
              </a:rPr>
              <a:t>The CSP engine is a standalone Python package (ac3, backtracking, local_search, cost, validator, explain) exercised from the command line before any UI exists.</a:t>
            </a:r>
          </a:p>
        </p:txBody>
      </p:sp>
      <p:sp>
        <p:nvSpPr>
          <p:cNvPr name="TextBox 27" id="27"/>
          <p:cNvSpPr txBox="true"/>
          <p:nvPr/>
        </p:nvSpPr>
        <p:spPr>
          <a:xfrm rot="0">
            <a:off x="14703708" y="712453"/>
            <a:ext cx="2171801" cy="306705"/>
          </a:xfrm>
          <a:prstGeom prst="rect">
            <a:avLst/>
          </a:prstGeom>
        </p:spPr>
        <p:txBody>
          <a:bodyPr anchor="t" rtlCol="false" tIns="0" lIns="0" bIns="0" rIns="0">
            <a:spAutoFit/>
          </a:bodyPr>
          <a:lstStyle/>
          <a:p>
            <a:pPr algn="l">
              <a:lnSpc>
                <a:spcPts val="2520"/>
              </a:lnSpc>
            </a:pPr>
            <a:r>
              <a:rPr lang="en-US" sz="1800">
                <a:solidFill>
                  <a:srgbClr val="363336"/>
                </a:solidFill>
                <a:latin typeface="Inter"/>
                <a:ea typeface="Inter"/>
                <a:cs typeface="Inter"/>
                <a:sym typeface="Inter"/>
              </a:rPr>
              <a:t>Implementation </a:t>
            </a:r>
          </a:p>
        </p:txBody>
      </p:sp>
      <p:sp>
        <p:nvSpPr>
          <p:cNvPr name="TextBox 28" id="28"/>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sp>
        <p:nvSpPr>
          <p:cNvPr name="Freeform 29" id="29"/>
          <p:cNvSpPr/>
          <p:nvPr/>
        </p:nvSpPr>
        <p:spPr>
          <a:xfrm flipH="false" flipV="false" rot="0">
            <a:off x="1131267" y="4554447"/>
            <a:ext cx="8275274" cy="5075894"/>
          </a:xfrm>
          <a:custGeom>
            <a:avLst/>
            <a:gdLst/>
            <a:ahLst/>
            <a:cxnLst/>
            <a:rect r="r" b="b" t="t" l="l"/>
            <a:pathLst>
              <a:path h="5075894" w="8275274">
                <a:moveTo>
                  <a:pt x="0" y="0"/>
                </a:moveTo>
                <a:lnTo>
                  <a:pt x="8275275" y="0"/>
                </a:lnTo>
                <a:lnTo>
                  <a:pt x="8275275" y="5075894"/>
                </a:lnTo>
                <a:lnTo>
                  <a:pt x="0" y="5075894"/>
                </a:lnTo>
                <a:lnTo>
                  <a:pt x="0" y="0"/>
                </a:lnTo>
                <a:close/>
              </a:path>
            </a:pathLst>
          </a:custGeom>
          <a:blipFill>
            <a:blip r:embed="rId11"/>
            <a:stretch>
              <a:fillRect l="0" t="0" r="-33303" b="-707"/>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7979923" y="5143500"/>
            <a:ext cx="481321" cy="481321"/>
          </a:xfrm>
          <a:custGeom>
            <a:avLst/>
            <a:gdLst/>
            <a:ahLst/>
            <a:cxnLst/>
            <a:rect r="r" b="b" t="t" l="l"/>
            <a:pathLst>
              <a:path h="481321" w="481321">
                <a:moveTo>
                  <a:pt x="0" y="0"/>
                </a:moveTo>
                <a:lnTo>
                  <a:pt x="481321" y="0"/>
                </a:lnTo>
                <a:lnTo>
                  <a:pt x="481321" y="481321"/>
                </a:lnTo>
                <a:lnTo>
                  <a:pt x="0" y="4813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103461" y="8227552"/>
            <a:ext cx="481321" cy="481321"/>
          </a:xfrm>
          <a:custGeom>
            <a:avLst/>
            <a:gdLst/>
            <a:ahLst/>
            <a:cxnLst/>
            <a:rect r="r" b="b" t="t" l="l"/>
            <a:pathLst>
              <a:path h="481321" w="481321">
                <a:moveTo>
                  <a:pt x="0" y="0"/>
                </a:moveTo>
                <a:lnTo>
                  <a:pt x="481321" y="0"/>
                </a:lnTo>
                <a:lnTo>
                  <a:pt x="481321" y="481321"/>
                </a:lnTo>
                <a:lnTo>
                  <a:pt x="0" y="4813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1111622" y="6906722"/>
            <a:ext cx="464999" cy="464999"/>
          </a:xfrm>
          <a:custGeom>
            <a:avLst/>
            <a:gdLst/>
            <a:ahLst/>
            <a:cxnLst/>
            <a:rect r="r" b="b" t="t" l="l"/>
            <a:pathLst>
              <a:path h="464999" w="464999">
                <a:moveTo>
                  <a:pt x="0" y="0"/>
                </a:moveTo>
                <a:lnTo>
                  <a:pt x="464999" y="0"/>
                </a:lnTo>
                <a:lnTo>
                  <a:pt x="464999" y="464999"/>
                </a:lnTo>
                <a:lnTo>
                  <a:pt x="0" y="46499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7" id="7"/>
          <p:cNvSpPr/>
          <p:nvPr/>
        </p:nvSpPr>
        <p:spPr>
          <a:xfrm>
            <a:off x="1028700" y="2839420"/>
            <a:ext cx="2126908" cy="0"/>
          </a:xfrm>
          <a:prstGeom prst="line">
            <a:avLst/>
          </a:prstGeom>
          <a:ln cap="flat" w="38100">
            <a:solidFill>
              <a:srgbClr val="90816A"/>
            </a:solidFill>
            <a:prstDash val="solid"/>
            <a:headEnd type="none" len="sm" w="sm"/>
            <a:tailEnd type="none" len="sm" w="sm"/>
          </a:ln>
        </p:spPr>
      </p:sp>
      <p:sp>
        <p:nvSpPr>
          <p:cNvPr name="Freeform 8" id="8"/>
          <p:cNvSpPr/>
          <p:nvPr/>
        </p:nvSpPr>
        <p:spPr>
          <a:xfrm flipH="false" flipV="false" rot="0">
            <a:off x="8754515" y="1045700"/>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1111622" y="7571585"/>
            <a:ext cx="464999" cy="464999"/>
          </a:xfrm>
          <a:custGeom>
            <a:avLst/>
            <a:gdLst/>
            <a:ahLst/>
            <a:cxnLst/>
            <a:rect r="r" b="b" t="t" l="l"/>
            <a:pathLst>
              <a:path h="464999" w="464999">
                <a:moveTo>
                  <a:pt x="0" y="0"/>
                </a:moveTo>
                <a:lnTo>
                  <a:pt x="464999" y="0"/>
                </a:lnTo>
                <a:lnTo>
                  <a:pt x="464999" y="464999"/>
                </a:lnTo>
                <a:lnTo>
                  <a:pt x="0" y="46499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378430" y="753289"/>
            <a:ext cx="476461" cy="550822"/>
          </a:xfrm>
          <a:custGeom>
            <a:avLst/>
            <a:gdLst/>
            <a:ahLst/>
            <a:cxnLst/>
            <a:rect r="r" b="b" t="t" l="l"/>
            <a:pathLst>
              <a:path h="550822" w="476461">
                <a:moveTo>
                  <a:pt x="0" y="0"/>
                </a:moveTo>
                <a:lnTo>
                  <a:pt x="476461" y="0"/>
                </a:lnTo>
                <a:lnTo>
                  <a:pt x="476461" y="550822"/>
                </a:lnTo>
                <a:lnTo>
                  <a:pt x="0" y="55082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880338" y="3344245"/>
            <a:ext cx="11480547" cy="6457808"/>
          </a:xfrm>
          <a:custGeom>
            <a:avLst/>
            <a:gdLst/>
            <a:ahLst/>
            <a:cxnLst/>
            <a:rect r="r" b="b" t="t" l="l"/>
            <a:pathLst>
              <a:path h="6457808" w="11480547">
                <a:moveTo>
                  <a:pt x="0" y="0"/>
                </a:moveTo>
                <a:lnTo>
                  <a:pt x="11480547" y="0"/>
                </a:lnTo>
                <a:lnTo>
                  <a:pt x="11480547" y="6457808"/>
                </a:lnTo>
                <a:lnTo>
                  <a:pt x="0" y="6457808"/>
                </a:lnTo>
                <a:lnTo>
                  <a:pt x="0" y="0"/>
                </a:lnTo>
                <a:close/>
              </a:path>
            </a:pathLst>
          </a:custGeom>
          <a:blipFill>
            <a:blip r:embed="rId17"/>
            <a:stretch>
              <a:fillRect l="0" t="0" r="0" b="0"/>
            </a:stretch>
          </a:blipFill>
        </p:spPr>
      </p:sp>
      <p:sp>
        <p:nvSpPr>
          <p:cNvPr name="TextBox 12" id="12"/>
          <p:cNvSpPr txBox="true"/>
          <p:nvPr/>
        </p:nvSpPr>
        <p:spPr>
          <a:xfrm rot="0">
            <a:off x="1028700" y="1706148"/>
            <a:ext cx="11362318"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Outputs and evaluation</a:t>
            </a:r>
          </a:p>
        </p:txBody>
      </p:sp>
      <p:sp>
        <p:nvSpPr>
          <p:cNvPr name="TextBox 13" id="13"/>
          <p:cNvSpPr txBox="true"/>
          <p:nvPr/>
        </p:nvSpPr>
        <p:spPr>
          <a:xfrm rot="0">
            <a:off x="12652868" y="3394072"/>
            <a:ext cx="5113548" cy="1990089"/>
          </a:xfrm>
          <a:prstGeom prst="rect">
            <a:avLst/>
          </a:prstGeom>
        </p:spPr>
        <p:txBody>
          <a:bodyPr anchor="t" rtlCol="false" tIns="0" lIns="0" bIns="0" rIns="0">
            <a:spAutoFit/>
          </a:bodyPr>
          <a:lstStyle/>
          <a:p>
            <a:pPr algn="l">
              <a:lnSpc>
                <a:spcPts val="2660"/>
              </a:lnSpc>
            </a:pPr>
            <a:r>
              <a:rPr lang="en-US" sz="1900">
                <a:solidFill>
                  <a:srgbClr val="737373"/>
                </a:solidFill>
                <a:latin typeface="Inter"/>
                <a:ea typeface="Inter"/>
                <a:cs typeface="Inter"/>
                <a:sym typeface="Inter"/>
              </a:rPr>
              <a:t> Allocation grid, duty chart PDF, reschedule diff ("CS301: Lab-2 → Lab-5; Dr A → Dr B") and conflict explanation. Evaluation on synthetic instances with planned experiments: heuristic ablation, repair vs full re-solve, fairness.</a:t>
            </a:r>
          </a:p>
        </p:txBody>
      </p:sp>
      <p:sp>
        <p:nvSpPr>
          <p:cNvPr name="TextBox 14" id="14"/>
          <p:cNvSpPr txBox="true"/>
          <p:nvPr/>
        </p:nvSpPr>
        <p:spPr>
          <a:xfrm rot="0">
            <a:off x="14586221" y="712453"/>
            <a:ext cx="2171801" cy="306705"/>
          </a:xfrm>
          <a:prstGeom prst="rect">
            <a:avLst/>
          </a:prstGeom>
        </p:spPr>
        <p:txBody>
          <a:bodyPr anchor="t" rtlCol="false" tIns="0" lIns="0" bIns="0" rIns="0">
            <a:spAutoFit/>
          </a:bodyPr>
          <a:lstStyle/>
          <a:p>
            <a:pPr algn="l">
              <a:lnSpc>
                <a:spcPts val="2520"/>
              </a:lnSpc>
            </a:pPr>
            <a:r>
              <a:rPr lang="en-US" sz="1800">
                <a:solidFill>
                  <a:srgbClr val="363336"/>
                </a:solidFill>
                <a:latin typeface="Inter"/>
                <a:ea typeface="Inter"/>
                <a:cs typeface="Inter"/>
                <a:sym typeface="Inter"/>
              </a:rPr>
              <a:t>Output and result</a:t>
            </a:r>
          </a:p>
        </p:txBody>
      </p:sp>
      <p:sp>
        <p:nvSpPr>
          <p:cNvPr name="TextBox 15" id="15"/>
          <p:cNvSpPr txBox="true"/>
          <p:nvPr/>
        </p:nvSpPr>
        <p:spPr>
          <a:xfrm rot="0">
            <a:off x="1970380" y="846756"/>
            <a:ext cx="4239960" cy="3067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Foundations of Artificial Intelligence</a:t>
            </a:r>
          </a:p>
        </p:txBody>
      </p:sp>
      <p:sp>
        <p:nvSpPr>
          <p:cNvPr name="Freeform 16" id="16"/>
          <p:cNvSpPr/>
          <p:nvPr/>
        </p:nvSpPr>
        <p:spPr>
          <a:xfrm flipH="false" flipV="false" rot="0">
            <a:off x="12842379" y="6016310"/>
            <a:ext cx="381257" cy="381257"/>
          </a:xfrm>
          <a:custGeom>
            <a:avLst/>
            <a:gdLst/>
            <a:ahLst/>
            <a:cxnLst/>
            <a:rect r="r" b="b" t="t" l="l"/>
            <a:pathLst>
              <a:path h="381257" w="381257">
                <a:moveTo>
                  <a:pt x="0" y="0"/>
                </a:moveTo>
                <a:lnTo>
                  <a:pt x="381257" y="0"/>
                </a:lnTo>
                <a:lnTo>
                  <a:pt x="381257" y="381257"/>
                </a:lnTo>
                <a:lnTo>
                  <a:pt x="0" y="38125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12842379" y="6835819"/>
            <a:ext cx="381257" cy="381257"/>
          </a:xfrm>
          <a:custGeom>
            <a:avLst/>
            <a:gdLst/>
            <a:ahLst/>
            <a:cxnLst/>
            <a:rect r="r" b="b" t="t" l="l"/>
            <a:pathLst>
              <a:path h="381257" w="381257">
                <a:moveTo>
                  <a:pt x="0" y="0"/>
                </a:moveTo>
                <a:lnTo>
                  <a:pt x="381257" y="0"/>
                </a:lnTo>
                <a:lnTo>
                  <a:pt x="381257" y="381256"/>
                </a:lnTo>
                <a:lnTo>
                  <a:pt x="0" y="38125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12842379" y="7655327"/>
            <a:ext cx="381257" cy="381257"/>
          </a:xfrm>
          <a:custGeom>
            <a:avLst/>
            <a:gdLst/>
            <a:ahLst/>
            <a:cxnLst/>
            <a:rect r="r" b="b" t="t" l="l"/>
            <a:pathLst>
              <a:path h="381257" w="381257">
                <a:moveTo>
                  <a:pt x="0" y="0"/>
                </a:moveTo>
                <a:lnTo>
                  <a:pt x="381257" y="0"/>
                </a:lnTo>
                <a:lnTo>
                  <a:pt x="381257" y="381257"/>
                </a:lnTo>
                <a:lnTo>
                  <a:pt x="0" y="38125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9" id="19"/>
          <p:cNvSpPr txBox="true"/>
          <p:nvPr/>
        </p:nvSpPr>
        <p:spPr>
          <a:xfrm rot="0">
            <a:off x="13409717" y="5916560"/>
            <a:ext cx="4356699" cy="656589"/>
          </a:xfrm>
          <a:prstGeom prst="rect">
            <a:avLst/>
          </a:prstGeom>
        </p:spPr>
        <p:txBody>
          <a:bodyPr anchor="t" rtlCol="false" tIns="0" lIns="0" bIns="0" rIns="0">
            <a:spAutoFit/>
          </a:bodyPr>
          <a:lstStyle/>
          <a:p>
            <a:pPr algn="l">
              <a:lnSpc>
                <a:spcPts val="2660"/>
              </a:lnSpc>
            </a:pPr>
            <a:r>
              <a:rPr lang="en-US" sz="1900">
                <a:solidFill>
                  <a:srgbClr val="737373"/>
                </a:solidFill>
                <a:latin typeface="Inter"/>
                <a:ea typeface="Inter"/>
                <a:cs typeface="Inter"/>
                <a:sym typeface="Inter"/>
              </a:rPr>
              <a:t>0 hard-constraint violations on every published allocation</a:t>
            </a:r>
          </a:p>
        </p:txBody>
      </p:sp>
      <p:sp>
        <p:nvSpPr>
          <p:cNvPr name="TextBox 20" id="20"/>
          <p:cNvSpPr txBox="true"/>
          <p:nvPr/>
        </p:nvSpPr>
        <p:spPr>
          <a:xfrm rot="0">
            <a:off x="13409717" y="6750005"/>
            <a:ext cx="4356699" cy="656589"/>
          </a:xfrm>
          <a:prstGeom prst="rect">
            <a:avLst/>
          </a:prstGeom>
        </p:spPr>
        <p:txBody>
          <a:bodyPr anchor="t" rtlCol="false" tIns="0" lIns="0" bIns="0" rIns="0">
            <a:spAutoFit/>
          </a:bodyPr>
          <a:lstStyle/>
          <a:p>
            <a:pPr algn="l">
              <a:lnSpc>
                <a:spcPts val="2660"/>
              </a:lnSpc>
            </a:pPr>
            <a:r>
              <a:rPr lang="en-US" sz="1900">
                <a:solidFill>
                  <a:srgbClr val="737373"/>
                </a:solidFill>
                <a:latin typeface="Inter"/>
                <a:ea typeface="Inter"/>
                <a:cs typeface="Inter"/>
                <a:sym typeface="Inter"/>
              </a:rPr>
              <a:t>≤ 5 assignments changed per incident (vs full re-solve)</a:t>
            </a:r>
          </a:p>
        </p:txBody>
      </p:sp>
      <p:sp>
        <p:nvSpPr>
          <p:cNvPr name="TextBox 21" id="21"/>
          <p:cNvSpPr txBox="true"/>
          <p:nvPr/>
        </p:nvSpPr>
        <p:spPr>
          <a:xfrm rot="0">
            <a:off x="13381780" y="7529692"/>
            <a:ext cx="4356699" cy="656589"/>
          </a:xfrm>
          <a:prstGeom prst="rect">
            <a:avLst/>
          </a:prstGeom>
        </p:spPr>
        <p:txBody>
          <a:bodyPr anchor="t" rtlCol="false" tIns="0" lIns="0" bIns="0" rIns="0">
            <a:spAutoFit/>
          </a:bodyPr>
          <a:lstStyle/>
          <a:p>
            <a:pPr algn="l">
              <a:lnSpc>
                <a:spcPts val="2660"/>
              </a:lnSpc>
            </a:pPr>
            <a:r>
              <a:rPr lang="en-US" sz="1900">
                <a:solidFill>
                  <a:srgbClr val="737373"/>
                </a:solidFill>
                <a:latin typeface="Inter"/>
                <a:ea typeface="Inter"/>
                <a:cs typeface="Inter"/>
                <a:sym typeface="Inter"/>
              </a:rPr>
              <a:t>&lt; 2 s repair, &lt; 5 s generation on the target instance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DAHXM44U0Ko</dc:identifier>
  <dcterms:modified xsi:type="dcterms:W3CDTF">2011-08-01T06:04:30Z</dcterms:modified>
  <cp:revision>1</cp:revision>
  <dc:title>FOAI_PPT_FINAL</dc:title>
</cp:coreProperties>
</file>